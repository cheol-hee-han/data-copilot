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0" y="73152"/>
            <a:ext cx="2468880" cy="4997196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1371600"/>
            <a:ext cx="2468880" cy="1463040"/>
          </a:xfrm>
          <a:prstGeom prst="rect">
            <a:avLst/>
          </a:prstGeom>
          <a:solidFill>
            <a:srgbClr val="3A7BD5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75120" y="2834640"/>
            <a:ext cx="2468880" cy="2253996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AI &amp; LangGraph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BFD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데이터 분석 챗봇 개발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18288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803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내 기술 공유 세션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VSCode + Claude Code 활용 사례  |  2026.04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37744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 /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59536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005840"/>
            <a:ext cx="39776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3977640" cy="438912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7" name="Shape 5"/>
          <p:cNvSpPr/>
          <p:nvPr/>
        </p:nvSpPr>
        <p:spPr>
          <a:xfrm>
            <a:off x="3639312" y="1097280"/>
            <a:ext cx="658368" cy="256032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39312" y="10972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9496" y="107899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AI 개념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6072" y="1591056"/>
            <a:ext cx="91440" cy="91440"/>
          </a:xfrm>
          <a:prstGeom prst="ellipse">
            <a:avLst/>
          </a:prstGeom>
          <a:solidFill>
            <a:srgbClr val="3A7BD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5361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AI / Agentic Loop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" y="1920240"/>
            <a:ext cx="91440" cy="91440"/>
          </a:xfrm>
          <a:prstGeom prst="ellipse">
            <a:avLst/>
          </a:prstGeom>
          <a:solidFill>
            <a:srgbClr val="3A7BD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8653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핵심 아이디어 4가지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" y="2249424"/>
            <a:ext cx="91440" cy="91440"/>
          </a:xfrm>
          <a:prstGeom prst="ellipse">
            <a:avLst/>
          </a:prstGeom>
          <a:solidFill>
            <a:srgbClr val="3A7BD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194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한계 vs 에이전트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" y="2578608"/>
            <a:ext cx="91440" cy="91440"/>
          </a:xfrm>
          <a:prstGeom prst="ellipse">
            <a:avLst/>
          </a:prstGeom>
          <a:solidFill>
            <a:srgbClr val="3A7BD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5237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Use 동작 원리 (코드)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005840"/>
            <a:ext cx="39776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005840"/>
            <a:ext cx="397764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Shape 18"/>
          <p:cNvSpPr/>
          <p:nvPr/>
        </p:nvSpPr>
        <p:spPr>
          <a:xfrm>
            <a:off x="7799832" y="1097280"/>
            <a:ext cx="658368" cy="256032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799832" y="10972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00016" y="107899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프레임워크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36592" y="1591056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15361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소개 &amp; 코드 개념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36592" y="192024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18653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· Conditional Edge · 자기평가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36592" y="2249424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2194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체크포인터 &amp; 멀티턴 대화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3127248"/>
            <a:ext cx="39776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3127248"/>
            <a:ext cx="397764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Shape 29"/>
          <p:cNvSpPr/>
          <p:nvPr/>
        </p:nvSpPr>
        <p:spPr>
          <a:xfrm>
            <a:off x="3639312" y="3218688"/>
            <a:ext cx="658368" cy="256032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639312" y="32186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9496" y="32004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Copilot 구현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76072" y="371246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36576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NL-to-SQL 도전과제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76072" y="404164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39867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+ 메타 검색 전략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76072" y="437083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43159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전체 흐름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76072" y="4700016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46451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 · Present 계층 상세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0" y="3127248"/>
            <a:ext cx="39776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0" y="3127248"/>
            <a:ext cx="3977640" cy="43891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4" name="Shape 42"/>
          <p:cNvSpPr/>
          <p:nvPr/>
        </p:nvSpPr>
        <p:spPr>
          <a:xfrm>
            <a:off x="7799832" y="3218688"/>
            <a:ext cx="658368" cy="256032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799832" y="32186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00016" y="32004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&amp; 개발 방법론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736592" y="3712464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8" name="Text 46"/>
          <p:cNvSpPr/>
          <p:nvPr/>
        </p:nvSpPr>
        <p:spPr>
          <a:xfrm>
            <a:off x="4892040" y="36576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폐쇄망 배포 전략 (LLM 교체)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36592" y="4041648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50" name="Text 48"/>
          <p:cNvSpPr/>
          <p:nvPr/>
        </p:nvSpPr>
        <p:spPr>
          <a:xfrm>
            <a:off x="4892040" y="39867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활용 노하우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AI / Agentic Loop란?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70432"/>
            <a:ext cx="8321040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170432"/>
            <a:ext cx="64008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704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단순 LLM은 질문에 한 번만 응답하고 종료되어, 복잡한 다단계 추론과 외부 도구 활용이 근본적으로 불가능하다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  이를 해결하기 위해 Agentic AI가 등장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892808"/>
            <a:ext cx="8321040" cy="47548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1892808"/>
            <a:ext cx="64008" cy="475488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89280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목표가 달성될 때까지 계획 → 도구 호출 → 결과 평가 → 재시도를 스스로 반복하는 AI 시스템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1344168" cy="8412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14600"/>
            <a:ext cx="13441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Perceive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37944" y="2935224"/>
            <a:ext cx="173736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48256" y="2514600"/>
            <a:ext cx="1344168" cy="8412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048256" y="2514600"/>
            <a:ext cx="13441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29000" y="2935224"/>
            <a:ext cx="173736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39312" y="2514600"/>
            <a:ext cx="1344168" cy="8412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3639312" y="2514600"/>
            <a:ext cx="13441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0056" y="2935224"/>
            <a:ext cx="173736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30368" y="2514600"/>
            <a:ext cx="1344168" cy="8412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5230368" y="2514600"/>
            <a:ext cx="13441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11112" y="2935224"/>
            <a:ext cx="173736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21424" y="2514600"/>
            <a:ext cx="1344168" cy="8412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6821424" y="2514600"/>
            <a:ext cx="13441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Reflect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401568"/>
            <a:ext cx="8229600" cy="0"/>
          </a:xfrm>
          <a:prstGeom prst="line">
            <a:avLst/>
          </a:prstGeom>
          <a:noFill/>
          <a:ln w="19050">
            <a:solidFill>
              <a:srgbClr val="3A7BD5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목표 달성 시까지 반복 (Feedback Loop)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3840480"/>
            <a:ext cx="3886200" cy="84124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LLM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4187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→ 한 번 응답 → 종료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3840480"/>
            <a:ext cx="3886200" cy="84124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AI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83480" y="4187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→ 계획 → 반복 추론 → 목표 달성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279392" y="40050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에이전트의 핵심 아이디어 — 4가지 구성요소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234440"/>
            <a:ext cx="3913632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34440"/>
            <a:ext cx="64008" cy="1572768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8" name="Shape 6"/>
          <p:cNvSpPr/>
          <p:nvPr/>
        </p:nvSpPr>
        <p:spPr>
          <a:xfrm>
            <a:off x="3666744" y="1344168"/>
            <a:ext cx="566928" cy="265176"/>
          </a:xfrm>
          <a:prstGeom prst="rect">
            <a:avLst/>
          </a:prstGeom>
          <a:solidFill>
            <a:srgbClr val="3A7BD5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66744" y="1344168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6072" y="1344168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Use — 도구 호출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6072" y="1801368"/>
            <a:ext cx="3666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외부 도구(DB, 검색, API)를 직접 호출하여 실시간 정보를 처리. 자체 지식의 한계를 도구로 보완한다.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73168" y="1234440"/>
            <a:ext cx="3913632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73168" y="1234440"/>
            <a:ext cx="64008" cy="15727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8028432" y="1344168"/>
            <a:ext cx="566928" cy="265176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028432" y="1344168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1344168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 — 기억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801368"/>
            <a:ext cx="3666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이력, 수집된 지식, 세션 상태를 저장·유지하며 문맥 기반 추론 수행. 단기/장기 메모리를 구분 관리한다.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063240"/>
            <a:ext cx="3913632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063240"/>
            <a:ext cx="64008" cy="15727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Shape 18"/>
          <p:cNvSpPr/>
          <p:nvPr/>
        </p:nvSpPr>
        <p:spPr>
          <a:xfrm>
            <a:off x="3666744" y="3172968"/>
            <a:ext cx="566928" cy="265176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66744" y="3172968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6072" y="3172968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Planning — 계획 수립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6072" y="3630168"/>
            <a:ext cx="3666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목표를 세부 단계로 분해하고, 순서와 우선순위를 스스로 결정하여 단계별 실행 계획을 수립한다.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73168" y="3063240"/>
            <a:ext cx="3913632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73168" y="3063240"/>
            <a:ext cx="64008" cy="157276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6" name="Shape 24"/>
          <p:cNvSpPr/>
          <p:nvPr/>
        </p:nvSpPr>
        <p:spPr>
          <a:xfrm>
            <a:off x="8028432" y="3172968"/>
            <a:ext cx="566928" cy="265176"/>
          </a:xfrm>
          <a:prstGeom prst="rect">
            <a:avLst/>
          </a:prstGeom>
          <a:solidFill>
            <a:srgbClr val="EA580C">
              <a:alpha val="8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028432" y="3172968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3172968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Reflection — 자기 평가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37760" y="3630168"/>
            <a:ext cx="3666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결과를 스스로 검토하고, 실패 시 원인을 분석한 뒤 대안 경로로 재계획(REPLAN)하는 메타인지 능력.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LLM의 한계 — 에이전트가 해결하는 것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70432"/>
            <a:ext cx="3794760" cy="40233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7043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LLM의 한계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801368"/>
            <a:ext cx="256032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01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7099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단절 — 학습 이후 최신 정보 접근 불가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350008"/>
            <a:ext cx="256032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2585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단발성 응답 — 복잡한 다단계 문제 처리 불가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898648"/>
            <a:ext cx="256032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98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28072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환각(Hallucination) — 틀린 내용을 자신 있게 응답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447288"/>
            <a:ext cx="256032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447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3558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없음 — DB, API 등 외부 시스템 접근 불가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995928"/>
            <a:ext cx="256032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995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39044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없음 — 대화 맥락 장기 유지 어려움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43400" y="1170432"/>
            <a:ext cx="0" cy="352044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160520" y="27432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663440" y="1170432"/>
            <a:ext cx="4069080" cy="40233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11704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에이전트의 해결 방식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754880" y="1801368"/>
            <a:ext cx="256032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1801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0" y="17099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Use로 실시간 DB/검색 데이터 직접 활용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2350008"/>
            <a:ext cx="256032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0" y="22585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Loop로 다단계 반복 추론 처리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2898648"/>
            <a:ext cx="256032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2898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20640" y="280720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Self-Reflection으로 결과 검증 후 자동 재시도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3447288"/>
            <a:ext cx="256032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3447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20640" y="33558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호출로 DB, API, 검색엔진 직접 연동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54880" y="3995928"/>
            <a:ext cx="256032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3995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20640" y="390448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 관리로 멀티턴 대화 이력 유지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Use 동작 원리 — "AI가 툴을 쓴다"의 진짜 의미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70432"/>
            <a:ext cx="832104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170432"/>
            <a:ext cx="64008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170432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LLM은 "어떤 툴을 써야 할지" 결정하는 JSON 텍스트를 출력할 뿐 — 실제 DB 접근·API 실행은 항상 우리 코드(LangGraph 노드)에서 이루어진다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84048" y="1755648"/>
            <a:ext cx="1874520" cy="749808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755648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질문 + tools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전달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258568" y="2130552"/>
            <a:ext cx="228600" cy="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87168" y="1755648"/>
            <a:ext cx="1874520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2487168" y="1755648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LLM 출력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tool_use JSON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61688" y="2130552"/>
            <a:ext cx="228600" cy="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0288" y="1755648"/>
            <a:ext cx="1874520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90288" y="1755648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코드가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실행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64808" y="2130552"/>
            <a:ext cx="228600" cy="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93408" y="1755648"/>
            <a:ext cx="1874520" cy="7498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Text 17"/>
          <p:cNvSpPr/>
          <p:nvPr/>
        </p:nvSpPr>
        <p:spPr>
          <a:xfrm>
            <a:off x="6693408" y="1755648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결과를 다시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LLM에게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84048" y="2578608"/>
            <a:ext cx="8321040" cy="0"/>
          </a:xfrm>
          <a:prstGeom prst="line">
            <a:avLst/>
          </a:prstGeom>
          <a:noFill/>
          <a:ln w="12700">
            <a:solidFill>
              <a:srgbClr val="3A7BD5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84048" y="25968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목표 달성까지 반복 (Agentic Loop)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2971800"/>
            <a:ext cx="3886200" cy="2029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2971800"/>
            <a:ext cx="38862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구조가 핵심인 이유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3429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🔷  LLM = "무엇을 할지" 결정 담당 (Planner)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37398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🔷  실제 SQL·API·검색은 코드 레이어 실행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40507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🔷  결과가 messages[]에 누적 → LLM이 맥락 파악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4361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🔷  LangGraph 노드 = 각 Tool 실행 단위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46725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🔷  실패 시 LLM이 다른 tool/전략 재선택 가능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34840" y="2971800"/>
            <a:ext cx="4297680" cy="202996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1" name="Shape 29"/>
          <p:cNvSpPr/>
          <p:nvPr/>
        </p:nvSpPr>
        <p:spPr>
          <a:xfrm>
            <a:off x="4434840" y="2971800"/>
            <a:ext cx="429768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4553712" y="29718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 LangGraph 노드 실제 코드 패턴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53712" y="341985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sql_generator_node(state):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53712" y="35981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① tools 스키마와 함께 LLM 호출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53712" y="37764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await llm.invoke(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53712" y="39547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messages=state["messages"],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53712" y="413308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tools=[execute_sql_schema])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53712" y="431139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② LLM은 tool_use JSON만 출력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53712" y="448970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③ tool_executor 노드가 실제 실행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53712" y="46680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[resp]}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53712" y="4846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④ 결과 → messages[] → 다음 LLM 호출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— 에이전틱 AI 프레임워크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70432"/>
            <a:ext cx="8321040" cy="71323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170432"/>
            <a:ext cx="64008" cy="713232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88720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LangGraph는 LLM 기반 멀티 에이전트 / 사이클릭 워크플로우를 그래프(Graph)로 정의·실행하는 Python 오픈소스 프레임워크 (by LangChain 팀)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상태(State) + 노드(Node) + 엣지(Edge) 조합으로 복잡한 추론 파이프라인을 코드로 선언적 구현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084832"/>
            <a:ext cx="1892808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084832"/>
            <a:ext cx="1892808" cy="365760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20848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 (노드)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505456"/>
            <a:ext cx="1728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처리 단계. Python 함수로 정의. LLM 호출, 도구 실행, 라우팅 판정 등 수행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468880" y="2084832"/>
            <a:ext cx="1892808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2084832"/>
            <a:ext cx="1892808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2542032" y="20848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(엣지)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2505456"/>
            <a:ext cx="1728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간 흐름 연결. 조건부 엣지(Conditional Edge)로 동적 분기 처리 가능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26280" y="2084832"/>
            <a:ext cx="1892808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26280" y="2084832"/>
            <a:ext cx="1892808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599432" y="20848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(상태)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17720" y="2505456"/>
            <a:ext cx="1728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전체 공유 데이터 컨테이너. TypedDict로 정의, 노드 간 정보 전달 담당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0" y="2084832"/>
            <a:ext cx="1892808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0" y="2084832"/>
            <a:ext cx="1892808" cy="3657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20848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Cycle (사이클)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2505456"/>
            <a:ext cx="1728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DAG와 달리 순환(Cycle) 지원. 재시도·루프·조건 반복이 핵심 특징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1480" y="4114800"/>
            <a:ext cx="8321040" cy="658368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6" name="Shape 24"/>
          <p:cNvSpPr/>
          <p:nvPr/>
        </p:nvSpPr>
        <p:spPr>
          <a:xfrm>
            <a:off x="411480" y="4114800"/>
            <a:ext cx="6400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142232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LangGraph?   복잡한 에이전틱 루프·상태 관리·조건 분기를 선언적으로 구현 / LangSmith로 실행 추적·디버깅 지원 / 스트리밍·체크포인트·휴먼인더루프(HIL) 내장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— 핵심 구조 (코드 개념)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70432"/>
            <a:ext cx="4297680" cy="3566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34440"/>
            <a:ext cx="406908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상태 정의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State(TypedDict):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query: str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sql: str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result: list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노드 정의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planner(state: State):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{"plan": plan}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그래프 빌드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StateGraph(State)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graph.add_node("planner", planner)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graph.add_node("executor", executor)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엣지 (조건부)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"planner",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route_fn,  # 분기 함수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{"generate": "executor",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"retry": "planner"}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graph.set_entry_point("planner")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212080" y="1417320"/>
            <a:ext cx="1920240" cy="457200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892808"/>
            <a:ext cx="0" cy="283464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2194560"/>
            <a:ext cx="19202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executor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2670048"/>
            <a:ext cx="0" cy="283464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2971800"/>
            <a:ext cx="192024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32320" y="1645920"/>
            <a:ext cx="731520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1645920"/>
            <a:ext cx="0" cy="155448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3200400"/>
            <a:ext cx="731520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21031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Cycle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(재시도)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3383280"/>
            <a:ext cx="3749040" cy="12801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20640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20640" y="3813048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330952" y="37673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add_conditional_edges로 분기 로직 명시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120640" y="4078224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5330952" y="40325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State가 전체 노드 간 데이터 공유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120640" y="4343400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330952" y="42976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Cycle 지원 → REPLAN/재시도 자연스럽게 구현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체크포인터 &amp; 멀티턴 대화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70432"/>
            <a:ext cx="8321040" cy="65836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170432"/>
            <a:ext cx="64008" cy="658368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07008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체크포인터(Checkpointer)는 그래프 실행 중 State를 영속화하여 멀티턴 대화와 interrupt/resume 흐름을 가능하게 하는 LangGraph 핵심 인프라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920240"/>
            <a:ext cx="39319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920240"/>
            <a:ext cx="393192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멀티턴 대화 흐름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459736"/>
            <a:ext cx="804672" cy="25603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45973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(턴 1)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71600" y="242316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"데이터 뽑아줘"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834640"/>
            <a:ext cx="804672" cy="256032"/>
          </a:xfrm>
          <a:prstGeom prst="rect">
            <a:avLst/>
          </a:prstGeom>
          <a:solidFill>
            <a:srgbClr val="FEF9C3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83464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71600" y="279806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 감지 → interrupt() → 명확화 질문 반환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209544"/>
            <a:ext cx="804672" cy="25603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20954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(턴 2)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371600" y="317296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"이번달 여신 잔액"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584448"/>
            <a:ext cx="804672" cy="256032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58444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371600" y="354787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Command(resume=...) → 파이프라인 재개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959352"/>
            <a:ext cx="804672" cy="25603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95935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(턴 3)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71600" y="392277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"지점별로도 나눠줘"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334256"/>
            <a:ext cx="804672" cy="256032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33425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371600" y="429768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State 복원 → 맥락 유지하여 재처리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1920240"/>
            <a:ext cx="41605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1920240"/>
            <a:ext cx="416052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19202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아키텍처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63440" y="2423160"/>
            <a:ext cx="3977640" cy="9601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663440" y="2423160"/>
            <a:ext cx="54864" cy="960120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35" name="Text 33"/>
          <p:cNvSpPr/>
          <p:nvPr/>
        </p:nvSpPr>
        <p:spPr>
          <a:xfrm>
            <a:off x="4773168" y="247802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PostgresSaver (운영)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73168" y="274320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AsyncConnectionPool + psycopg3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autocommit=True · prepare_threshold=0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PgBouncer/pooler 호환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520440"/>
            <a:ext cx="3977640" cy="96012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8" name="Shape 36"/>
          <p:cNvSpPr/>
          <p:nvPr/>
        </p:nvSpPr>
        <p:spPr>
          <a:xfrm>
            <a:off x="4663440" y="352044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4773168" y="357530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MemorySaver (개발)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73168" y="384048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인메모리 · 재시작 시 초기화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테스트·개발 환경용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변경만으로 전환 가능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4590288"/>
            <a:ext cx="3977640" cy="8229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2" name="Shape 40"/>
          <p:cNvSpPr/>
          <p:nvPr/>
        </p:nvSpPr>
        <p:spPr>
          <a:xfrm>
            <a:off x="4663440" y="4590288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4773168" y="4617720"/>
            <a:ext cx="3794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interrupt / resume 패턴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명확화 필요 시 interrupt() → 사용자 응답 수신 → Command(resume=입력값)로 그래프 자동 재개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clarification_handler가 Human-in-the-Loop(HIL) 역할 담당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핵심 3요소 — State · 자기평가 · Memory (코드)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70432"/>
            <a:ext cx="2697480" cy="30906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170432"/>
            <a:ext cx="2697480" cy="384048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704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State — 노드 간 공유 컨텍스트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PipelineState(TypedDict):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8333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모든 노드가 읽고 쓰는 단일 상태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0391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messages: Annotated[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2448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list, add_messages]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24505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normalized_query: NormalizedQuery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26563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generated_sql: str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8620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replan_count: int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0678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32735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노드 = State 부분 업데이트만 반환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34792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sql_gen(state):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3685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sql = await llm(state[...])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38907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{"generated_sql": sql}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73552" y="1170432"/>
            <a:ext cx="2697480" cy="30906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Shape 20"/>
          <p:cNvSpPr/>
          <p:nvPr/>
        </p:nvSpPr>
        <p:spPr>
          <a:xfrm>
            <a:off x="3273552" y="1170432"/>
            <a:ext cx="269748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3364992" y="11704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Conditional Edge — 자기평가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64992" y="16276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검증 결과에 따른 동적 라우팅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64992" y="18333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route_after_validation(state):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64992" y="20391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= state["val_result"]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64992" y="22448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result.passed: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64992" y="24505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"execute_sql"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64992" y="26563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cnt = state["replan_count"]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64992" y="28620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cnt &lt; MAX_REPLAN: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64992" y="30678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"recovery_agent"  # REPLAN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64992" y="32735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"result_finalizer"  # 종료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364992" y="34792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64992" y="3685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64992" y="38907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"sql_validator", route_...)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35624" y="1170432"/>
            <a:ext cx="2697480" cy="30906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7" name="Shape 35"/>
          <p:cNvSpPr/>
          <p:nvPr/>
        </p:nvSpPr>
        <p:spPr>
          <a:xfrm>
            <a:off x="6135624" y="1170432"/>
            <a:ext cx="269748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6227064" y="11704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Checkpointer — Memory &amp; 멀티턴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27064" y="16276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각 노드 실행 후 State 자동 저장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27064" y="18333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with create_checkpointer()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27064" y="20391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checkpointer: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27064" y="22448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graph = builder.compile(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27064" y="24505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checkpointer=checkpointer)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227064" y="26563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227064" y="28620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thread_id = 대화 세션 키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227064" y="30678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 = {"configurable": {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227064" y="32735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"thread_id": session_id}}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227064" y="34792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재접속해도 이전 State 복원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227064" y="3685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graph.ainvoke(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227064" y="38907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input, config=config)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11480" y="4370832"/>
            <a:ext cx="2697480" cy="640080"/>
          </a:xfrm>
          <a:prstGeom prst="rect">
            <a:avLst/>
          </a:prstGeom>
          <a:solidFill>
            <a:srgbClr val="3A7BD5">
              <a:alpha val="1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11480" y="4370832"/>
            <a:ext cx="54864" cy="640080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53" name="Text 51"/>
          <p:cNvSpPr/>
          <p:nvPr/>
        </p:nvSpPr>
        <p:spPr>
          <a:xfrm>
            <a:off x="539496" y="43708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State는 DB처럼 모든 노드가 읽고 쓰는 단일 진실의 원천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273552" y="4370832"/>
            <a:ext cx="269748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3273552" y="4370832"/>
            <a:ext cx="54864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6" name="Text 54"/>
          <p:cNvSpPr/>
          <p:nvPr/>
        </p:nvSpPr>
        <p:spPr>
          <a:xfrm>
            <a:off x="3401568" y="43708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Conditional Edge = AI의 "자기평가" 구현체 — 성공/실패/종료 분기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135624" y="4370832"/>
            <a:ext cx="2697480" cy="640080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135624" y="4370832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9" name="Text 57"/>
          <p:cNvSpPr/>
          <p:nvPr/>
        </p:nvSpPr>
        <p:spPr>
          <a:xfrm>
            <a:off x="6263640" y="43708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Checkpointer로 중단·재개 자유로움 — 사람의 개입(HIL) 가능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Interpret 계층 상세 — 의도 분류 &amp; 정규화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70432"/>
            <a:ext cx="416052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70432"/>
            <a:ext cx="416052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7043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301752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sanitize (그래프 진입 전)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0299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NFKC 정규화 · 500자 제한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SQL·프롬프트 인젝션 감지 (13종 패턴)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20240" y="2011680"/>
            <a:ext cx="0" cy="32004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423160"/>
            <a:ext cx="301752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intent_classifier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7614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해소(CONTINUE/NEW/SKIP)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의도 분류 → 단일 LLM 호출로 통합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20240" y="2743200"/>
            <a:ext cx="0" cy="32004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154680"/>
            <a:ext cx="301752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normalize_query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4930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8-Slot NormalizedQuery 생성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2-Phase LLM 파이프라인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20240" y="3474720"/>
            <a:ext cx="0" cy="32004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886200"/>
            <a:ext cx="3017520" cy="3200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886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clarification_handler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2245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계층 모호성 단일 처리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AmbiguitySignal 기반 T1~T5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170432"/>
            <a:ext cx="4023360" cy="1993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170432"/>
            <a:ext cx="402336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11704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8-Slot NormalizedQuery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1700784"/>
            <a:ext cx="91440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17007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60720" y="16642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AGGREGATE / RANK / COMPARE / TREND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2075688"/>
            <a:ext cx="91440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0756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60720" y="20391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{"term": "대출", "type": "DIRECT"}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2450592"/>
            <a:ext cx="91440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24505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MEASURE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760720" y="2414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{"term": "건수", "agg_function": "COUNT"}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00600" y="2825496"/>
            <a:ext cx="91440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28254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760720" y="27889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{"type": "RELATIVE", "base_period": "이번달"}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39712" y="1700784"/>
            <a:ext cx="91440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6839712" y="17007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FILTER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799832" y="16642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{"column": "상태", "op": "EQUALS"}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39712" y="2075688"/>
            <a:ext cx="91440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3" name="Text 41"/>
          <p:cNvSpPr/>
          <p:nvPr/>
        </p:nvSpPr>
        <p:spPr>
          <a:xfrm>
            <a:off x="6839712" y="20756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DIMENSION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99832" y="20391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{"term": "지점", "role": "GROUP"}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39712" y="2450592"/>
            <a:ext cx="91440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6" name="Text 44"/>
          <p:cNvSpPr/>
          <p:nvPr/>
        </p:nvSpPr>
        <p:spPr>
          <a:xfrm>
            <a:off x="6839712" y="24505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MODIFIER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799832" y="2414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{"type": "RANK", "direction": "DESC"}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39712" y="2825496"/>
            <a:ext cx="91440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9" name="Text 47"/>
          <p:cNvSpPr/>
          <p:nvPr/>
        </p:nvSpPr>
        <p:spPr>
          <a:xfrm>
            <a:off x="6839712" y="28254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OUTPUT_HINT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799832" y="27889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{"format": "SPEC_SHEET"}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09160" y="3273552"/>
            <a:ext cx="402336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09160" y="3273552"/>
            <a:ext cx="402336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4800600" y="32735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명확화 트리거 T1 ~ T5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800600" y="3776472"/>
            <a:ext cx="27432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5" name="Text 53"/>
          <p:cNvSpPr/>
          <p:nvPr/>
        </p:nvSpPr>
        <p:spPr>
          <a:xfrm>
            <a:off x="4800600" y="377647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138928" y="374904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intent_classifier → UNSURE: 맥락 불분명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800600" y="3968496"/>
            <a:ext cx="27432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8" name="Text 56"/>
          <p:cNvSpPr/>
          <p:nvPr/>
        </p:nvSpPr>
        <p:spPr>
          <a:xfrm>
            <a:off x="4800600" y="396849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138928" y="394106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intent_classifier → AMBIGUOUS: 의도 불분명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800600" y="4160520"/>
            <a:ext cx="27432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1" name="Text 59"/>
          <p:cNvSpPr/>
          <p:nvPr/>
        </p:nvSpPr>
        <p:spPr>
          <a:xfrm>
            <a:off x="4800600" y="41605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138928" y="413308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normalize_query → ambiguities 슬롯 모호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800600" y="4352544"/>
            <a:ext cx="27432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4" name="Text 62"/>
          <p:cNvSpPr/>
          <p:nvPr/>
        </p:nvSpPr>
        <p:spPr>
          <a:xfrm>
            <a:off x="4800600" y="435254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138928" y="432511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readiness_gate → CONFLICTED 지식 항목 충돌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800600" y="4544568"/>
            <a:ext cx="27432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7" name="Text 65"/>
          <p:cNvSpPr/>
          <p:nvPr/>
        </p:nvSpPr>
        <p:spPr>
          <a:xfrm>
            <a:off x="4800600" y="45445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T5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138928" y="451713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 계층 → 교차 DB, 가설 충돌 등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구현 — Data Copilot 개요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70432"/>
            <a:ext cx="406908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70432"/>
            <a:ext cx="406908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1704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099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00200" y="17099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자연어로 DB 데이터를 조회·분석하는 챗봇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0352" y="2139696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128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00200" y="22128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· LangGraph · FastAPI · Claude API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0352" y="2642616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1576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00200" y="271576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(실시간) + REST API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30352" y="3145536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1868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스토어: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00200" y="321868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MemoryStore (개발) / Redis (운영, TTL 30분)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30352" y="3648456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2160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00200" y="372160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Elasticsearch + Qdrant (벡터 검색)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30352" y="4151376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2245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버전: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00200" y="42245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v3.3  (2026-04-02)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09160" y="1170432"/>
            <a:ext cx="402336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1170432"/>
            <a:ext cx="40233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828032" y="11704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시나리오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28032" y="1773936"/>
            <a:ext cx="621792" cy="2743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0" name="Text 28"/>
          <p:cNvSpPr/>
          <p:nvPr/>
        </p:nvSpPr>
        <p:spPr>
          <a:xfrm>
            <a:off x="4828032" y="1773936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22976" y="171907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"이번달 지점별 여신 잔액 뽑아줘"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28032" y="2249424"/>
            <a:ext cx="621792" cy="2743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3" name="Text 31"/>
          <p:cNvSpPr/>
          <p:nvPr/>
        </p:nvSpPr>
        <p:spPr>
          <a:xfrm>
            <a:off x="4828032" y="2249424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22976" y="219456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 분류 → SQL 자동 생성 → 결과 반환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28032" y="2724912"/>
            <a:ext cx="621792" cy="2743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6" name="Text 34"/>
          <p:cNvSpPr/>
          <p:nvPr/>
        </p:nvSpPr>
        <p:spPr>
          <a:xfrm>
            <a:off x="4828032" y="272491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22976" y="267004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"그거 전월 대비로도 보여줘"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828032" y="3200400"/>
            <a:ext cx="621792" cy="2743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9" name="Text 37"/>
          <p:cNvSpPr/>
          <p:nvPr/>
        </p:nvSpPr>
        <p:spPr>
          <a:xfrm>
            <a:off x="4828032" y="32004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22976" y="314553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유지 → 쿼리 재구성 → 추가 분석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828032" y="3675888"/>
            <a:ext cx="621792" cy="2743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2" name="Text 40"/>
          <p:cNvSpPr/>
          <p:nvPr/>
        </p:nvSpPr>
        <p:spPr>
          <a:xfrm>
            <a:off x="4828032" y="36758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522976" y="362102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"데이터 기준이 뭐야?"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828032" y="4151376"/>
            <a:ext cx="621792" cy="2743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5" name="Text 43"/>
          <p:cNvSpPr/>
          <p:nvPr/>
        </p:nvSpPr>
        <p:spPr>
          <a:xfrm>
            <a:off x="4828032" y="4151376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AI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522976" y="409651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 질문 인식 → simple_responder 직접 설명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NL-to-SQL의 현실 — 은행 도메인 4가지 핵심 난제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70432"/>
            <a:ext cx="8321040" cy="402336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170432"/>
            <a:ext cx="64008" cy="4023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170432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테이블에서 이 컬럼 가져다줘" — 사람에게 쉬운 말이 LLM에게는 수백 가지 해석 가능성을 가진 모호한 지시다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719072"/>
            <a:ext cx="39776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719072"/>
            <a:ext cx="54864" cy="1783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1719072"/>
            <a:ext cx="3977640" cy="365760"/>
          </a:xfrm>
          <a:prstGeom prst="rect">
            <a:avLst/>
          </a:prstGeom>
          <a:solidFill>
            <a:srgbClr val="DC2626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" y="1719072"/>
            <a:ext cx="3813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유사 테이블 다수 공존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76072" y="2139696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LOAN_DAILY_INFO / LOAN_MONTHLY_STAT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" y="2468880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LOAN_BASE_INFO / LOAN_BALANCE_HIS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" y="2798064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용도·갱신주기·범위를 알아야 선택 가능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" y="3127248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메타 없이 LLM이 틀린 테이블 선택 빈번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1719072"/>
            <a:ext cx="39776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719072"/>
            <a:ext cx="54864" cy="17830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Shape 17"/>
          <p:cNvSpPr/>
          <p:nvPr/>
        </p:nvSpPr>
        <p:spPr>
          <a:xfrm>
            <a:off x="4617720" y="1719072"/>
            <a:ext cx="3977640" cy="365760"/>
          </a:xfrm>
          <a:prstGeom prst="rect">
            <a:avLst/>
          </a:prstGeom>
          <a:solidFill>
            <a:srgbClr val="EA580C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745736" y="1719072"/>
            <a:ext cx="3813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불완전한 메타데이터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782312" y="2139696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 설명: "거래금액" (단위? 원? 천원?)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82312" y="2468880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NULL 허용 여부, 코드 값 범위 미기재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82312" y="2798064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LLM이 컬럼 의미를 잘못 추론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82312" y="3127248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산출식 추론 오류 → 잘못된 집계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3685032"/>
            <a:ext cx="39776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685032"/>
            <a:ext cx="54864" cy="1783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Shape 25"/>
          <p:cNvSpPr/>
          <p:nvPr/>
        </p:nvSpPr>
        <p:spPr>
          <a:xfrm>
            <a:off x="411480" y="3685032"/>
            <a:ext cx="3977640" cy="365760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39496" y="3685032"/>
            <a:ext cx="3813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금융 계수산출식 복잡성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76072" y="4105656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BIS비율 = (Tier1 + Tier2) / 위험가중자산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6072" y="4434840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LCR = 고유동성자산 / 30일 순현금유출액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6072" y="4764024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단순 컬럼 합산이 아닌 복잡한 가중 계산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6072" y="5093208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업무 매뉴얼·규정 참조 없이 오류 불가피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17720" y="3685032"/>
            <a:ext cx="39776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17720" y="3685032"/>
            <a:ext cx="54864" cy="1783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Shape 33"/>
          <p:cNvSpPr/>
          <p:nvPr/>
        </p:nvSpPr>
        <p:spPr>
          <a:xfrm>
            <a:off x="4617720" y="3685032"/>
            <a:ext cx="3977640" cy="365760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745736" y="3685032"/>
            <a:ext cx="3813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코드 값 매핑 필요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782312" y="4105656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상품구분코드 001=정기예금, 002=정기적금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82312" y="4434840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거래유형코드 10=입금, 20=출금, 30=이체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82312" y="4764024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WHERE 조건에 코드 값 직접 사용 필요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82312" y="5093208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코드 메타 없이는 WHERE 절 오류 발생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+ 메타 검색 — SQL 추론을 위한 4계층 정보 전략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70432"/>
            <a:ext cx="3931920" cy="34747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70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우선순위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3931920" cy="640080"/>
          </a:xfrm>
          <a:prstGeom prst="rect">
            <a:avLst/>
          </a:prstGeom>
          <a:solidFill>
            <a:srgbClr val="3A7BD5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627632"/>
            <a:ext cx="566928" cy="640080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627632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1682496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— 테이블/컬럼 메타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956816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설명·컬럼 타입·코드 값·주제영역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377440"/>
            <a:ext cx="3474720" cy="640080"/>
          </a:xfrm>
          <a:prstGeom prst="rect">
            <a:avLst/>
          </a:prstGeom>
          <a:solidFill>
            <a:srgbClr val="0D9488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2377440"/>
            <a:ext cx="566928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37744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2순위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2432304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Qdrant — 과거 SQL 이력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706624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쿼리 벡터 검색 → few-shot 참조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127248"/>
            <a:ext cx="3017520" cy="640080"/>
          </a:xfrm>
          <a:prstGeom prst="rect">
            <a:avLst/>
          </a:prstGeom>
          <a:solidFill>
            <a:srgbClr val="7C3AED">
              <a:alpha val="9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11480" y="3127248"/>
            <a:ext cx="566928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127248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3순위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318211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Qdrant — 업무 매뉴얼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45643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계수산출식·업무 규정 확인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3877056"/>
            <a:ext cx="2560320" cy="64008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3877056"/>
            <a:ext cx="566928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877056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4순위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" y="39319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— 비즈 용어 사전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420624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용어 ↔ DB 컬럼 매핑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0" y="1170432"/>
            <a:ext cx="416052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11704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SQL 벡터 검색 (RAG) 동작 흐름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17720" y="1627632"/>
            <a:ext cx="914400" cy="713232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31" name="Text 29"/>
          <p:cNvSpPr/>
          <p:nvPr/>
        </p:nvSpPr>
        <p:spPr>
          <a:xfrm>
            <a:off x="4617720" y="1627632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질문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텍스트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32120" y="1984248"/>
            <a:ext cx="109728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41848" y="1627632"/>
            <a:ext cx="914400" cy="7132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5641848" y="1627632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Embedding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변환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56248" y="1984248"/>
            <a:ext cx="109728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65976" y="1627632"/>
            <a:ext cx="914400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6665976" y="1627632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Qdrant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코사인 유사도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580376" y="1984248"/>
            <a:ext cx="109728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90104" y="1627632"/>
            <a:ext cx="914400" cy="7132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0" name="Text 38"/>
          <p:cNvSpPr/>
          <p:nvPr/>
        </p:nvSpPr>
        <p:spPr>
          <a:xfrm>
            <a:off x="7690104" y="1627632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추출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17720" y="2423160"/>
            <a:ext cx="40690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246888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Few-Shot Prompt 구성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0" y="2816352"/>
            <a:ext cx="4160520" cy="1783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4" name="Text 42"/>
          <p:cNvSpPr/>
          <p:nvPr/>
        </p:nvSpPr>
        <p:spPr>
          <a:xfrm>
            <a:off x="4681728" y="28712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유사 SQL top-3 → 프롬프트 주입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81728" y="31638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참고 가능한 유사 쿼리 (벡터 검색)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681728" y="33649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예시 1: 월별 여신 잔액 조회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681728" y="35661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MONTH, SUM(LOAN_BAL)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81728" y="37673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LOAN_MONTHLY_STAT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681728" y="39684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YEAR = :year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81728" y="41696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MONTH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681728" y="43708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similarity: 0.91 (코사인 거리)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전체 흐름도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8321040" cy="3657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Shape 3"/>
          <p:cNvSpPr/>
          <p:nvPr/>
        </p:nvSpPr>
        <p:spPr>
          <a:xfrm>
            <a:off x="438912" y="804672"/>
            <a:ext cx="2286000" cy="292608"/>
          </a:xfrm>
          <a:prstGeom prst="rect">
            <a:avLst/>
          </a:prstGeom>
          <a:solidFill>
            <a:srgbClr val="1D4ED8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8046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INTERPRET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80360" y="804672"/>
            <a:ext cx="3840480" cy="292608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880360" y="8046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49440" y="804672"/>
            <a:ext cx="1828800" cy="292608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804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PRESENT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" y="914400"/>
            <a:ext cx="1417320" cy="3017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914400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sanitize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47572" y="1216152"/>
            <a:ext cx="0" cy="155448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1371600"/>
            <a:ext cx="1417320" cy="3017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1371600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intent_classifier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47572" y="1673352"/>
            <a:ext cx="0" cy="155448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1828800"/>
            <a:ext cx="1417320" cy="3017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1828800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normalize_query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" y="2907792"/>
            <a:ext cx="1417320" cy="30175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2907792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simple_responder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" y="23317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CASUAL/META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147572" y="2130552"/>
            <a:ext cx="0" cy="53035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56232" y="1522476"/>
            <a:ext cx="1024128" cy="0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56232" y="1143000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56232" y="1979676"/>
            <a:ext cx="1024128" cy="0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80360" y="914400"/>
            <a:ext cx="1600200" cy="30175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7" name="Text 25"/>
          <p:cNvSpPr/>
          <p:nvPr/>
        </p:nvSpPr>
        <p:spPr>
          <a:xfrm>
            <a:off x="2880360" y="91440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reasoning_preparer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80460" y="1216152"/>
            <a:ext cx="0" cy="15544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80360" y="1371600"/>
            <a:ext cx="1600200" cy="3017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2880360" y="137160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context_retriever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80460" y="1673352"/>
            <a:ext cx="0" cy="15544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80360" y="1828800"/>
            <a:ext cx="1600200" cy="3017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2880360" y="182880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context_interpreter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80460" y="2130552"/>
            <a:ext cx="0" cy="15544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80360" y="2286000"/>
            <a:ext cx="1600200" cy="30175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6" name="Text 34"/>
          <p:cNvSpPr/>
          <p:nvPr/>
        </p:nvSpPr>
        <p:spPr>
          <a:xfrm>
            <a:off x="2880360" y="228600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readiness_gate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880360" y="2788920"/>
            <a:ext cx="1600200" cy="3017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8" name="Text 36"/>
          <p:cNvSpPr/>
          <p:nvPr/>
        </p:nvSpPr>
        <p:spPr>
          <a:xfrm>
            <a:off x="2880360" y="278892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sql_generator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80460" y="3090672"/>
            <a:ext cx="0" cy="15544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80360" y="3246120"/>
            <a:ext cx="1600200" cy="3017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1" name="Text 39"/>
          <p:cNvSpPr/>
          <p:nvPr/>
        </p:nvSpPr>
        <p:spPr>
          <a:xfrm>
            <a:off x="2880360" y="324612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sql_validator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880360" y="3703320"/>
            <a:ext cx="1600200" cy="3017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1"/>
          <p:cNvSpPr/>
          <p:nvPr/>
        </p:nvSpPr>
        <p:spPr>
          <a:xfrm>
            <a:off x="2880360" y="370332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recovery_agent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880360" y="4160520"/>
            <a:ext cx="1600200" cy="30175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45" name="Text 43"/>
          <p:cNvSpPr/>
          <p:nvPr/>
        </p:nvSpPr>
        <p:spPr>
          <a:xfrm>
            <a:off x="2880360" y="416052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result_finalizer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80460" y="2587752"/>
            <a:ext cx="0" cy="201168"/>
          </a:xfrm>
          <a:prstGeom prst="line">
            <a:avLst/>
          </a:prstGeom>
          <a:noFill/>
          <a:ln w="19050">
            <a:solidFill>
              <a:srgbClr val="FCD34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98848" y="23774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680460" y="3547872"/>
            <a:ext cx="0" cy="15544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14600" y="3854196"/>
            <a:ext cx="36576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2514600" y="1522476"/>
            <a:ext cx="0" cy="2482596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2514600" y="1522476"/>
            <a:ext cx="36576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1874520" y="27432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REPLAN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240280" y="2436876"/>
            <a:ext cx="274320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2240280" y="1522476"/>
            <a:ext cx="0" cy="1065276"/>
          </a:xfrm>
          <a:prstGeom prst="line">
            <a:avLst/>
          </a:prstGeom>
          <a:noFill/>
          <a:ln w="12700">
            <a:solidFill>
              <a:srgbClr val="34D399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2240280" y="1522476"/>
            <a:ext cx="274320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1691640" y="16002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EXPLORE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480560" y="4311396"/>
            <a:ext cx="246888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949440" y="3657600"/>
            <a:ext cx="1783080" cy="30175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9" name="Text 57"/>
          <p:cNvSpPr/>
          <p:nvPr/>
        </p:nvSpPr>
        <p:spPr>
          <a:xfrm>
            <a:off x="6949440" y="365760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execute_sql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40980" y="3959352"/>
            <a:ext cx="0" cy="155448"/>
          </a:xfrm>
          <a:prstGeom prst="line">
            <a:avLst/>
          </a:prstGeom>
          <a:noFill/>
          <a:ln w="19050">
            <a:solidFill>
              <a:srgbClr val="C4B5F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49440" y="4114800"/>
            <a:ext cx="1783080" cy="3017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2" name="Text 60"/>
          <p:cNvSpPr/>
          <p:nvPr/>
        </p:nvSpPr>
        <p:spPr>
          <a:xfrm>
            <a:off x="6949440" y="411480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analyze_data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840980" y="4416552"/>
            <a:ext cx="0" cy="155448"/>
          </a:xfrm>
          <a:prstGeom prst="line">
            <a:avLst/>
          </a:prstGeom>
          <a:noFill/>
          <a:ln w="19050">
            <a:solidFill>
              <a:srgbClr val="C4B5F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49440" y="4572000"/>
            <a:ext cx="1783080" cy="301752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65" name="Text 63"/>
          <p:cNvSpPr/>
          <p:nvPr/>
        </p:nvSpPr>
        <p:spPr>
          <a:xfrm>
            <a:off x="6949440" y="457200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format_response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750808" y="41148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750808" y="4572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EXTRACT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38912" y="3246120"/>
            <a:ext cx="1417320" cy="3017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9" name="Text 67"/>
          <p:cNvSpPr/>
          <p:nvPr/>
        </p:nvSpPr>
        <p:spPr>
          <a:xfrm>
            <a:off x="438912" y="3246120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clarification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_handler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38912" y="35478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계층에서 진입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856232" y="3058668"/>
            <a:ext cx="509320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7132320" y="4754880"/>
            <a:ext cx="1417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3" name="Text 71"/>
          <p:cNvSpPr/>
          <p:nvPr/>
        </p:nvSpPr>
        <p:spPr>
          <a:xfrm>
            <a:off x="7132320" y="4754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응답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840980" y="4873752"/>
            <a:ext cx="0" cy="201168"/>
          </a:xfrm>
          <a:prstGeom prst="line">
            <a:avLst/>
          </a:prstGeom>
          <a:noFill/>
          <a:ln w="19050">
            <a:solidFill>
              <a:srgbClr val="C4B5FD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아키텍처 — 3계층 구조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15568"/>
            <a:ext cx="2286000" cy="3090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15568"/>
            <a:ext cx="2286000" cy="4206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1556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Interpret 계층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57276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의도 해석 &amp; 쿼리 정규화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075688"/>
            <a:ext cx="2103120" cy="219456"/>
          </a:xfrm>
          <a:prstGeom prst="rect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9496" y="2075688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sanitize (전처리)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322576"/>
            <a:ext cx="2103120" cy="219456"/>
          </a:xfrm>
          <a:prstGeom prst="rect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39496" y="2322576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intent_classifier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569464"/>
            <a:ext cx="2103120" cy="219456"/>
          </a:xfrm>
          <a:prstGeom prst="rect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" y="2569464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normalize_query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816352"/>
            <a:ext cx="2103120" cy="219456"/>
          </a:xfrm>
          <a:prstGeom prst="rect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" y="2816352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(clarification_handler)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97480" y="2660904"/>
            <a:ext cx="164592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62072" y="1115568"/>
            <a:ext cx="3200400" cy="3090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862072" y="1115568"/>
            <a:ext cx="3200400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2907792" y="111556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 계층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35224" y="157276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에이전틱 추론 루프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53512" y="2075688"/>
            <a:ext cx="3017520" cy="219456"/>
          </a:xfrm>
          <a:prstGeom prst="rect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990088" y="2075688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reasoning_preparer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53512" y="2322576"/>
            <a:ext cx="3017520" cy="219456"/>
          </a:xfrm>
          <a:prstGeom prst="rect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990088" y="2322576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context_retriever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53512" y="2569464"/>
            <a:ext cx="3017520" cy="219456"/>
          </a:xfrm>
          <a:prstGeom prst="rect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990088" y="2569464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context_interpreter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953512" y="2816352"/>
            <a:ext cx="3017520" cy="219456"/>
          </a:xfrm>
          <a:prstGeom prst="rect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2990088" y="2816352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readiness_gate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953512" y="3063240"/>
            <a:ext cx="3017520" cy="219456"/>
          </a:xfrm>
          <a:prstGeom prst="rect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2990088" y="3063240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sql_generator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953512" y="3310128"/>
            <a:ext cx="3017520" cy="219456"/>
          </a:xfrm>
          <a:prstGeom prst="rect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990088" y="3310128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sql_validator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953512" y="3557016"/>
            <a:ext cx="3017520" cy="219456"/>
          </a:xfrm>
          <a:prstGeom prst="rect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2990088" y="3557016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recovery_agent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953512" y="3803904"/>
            <a:ext cx="3017520" cy="219456"/>
          </a:xfrm>
          <a:prstGeom prst="rect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2990088" y="3803904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result_finalizer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62472" y="2660904"/>
            <a:ext cx="164592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27064" y="1115568"/>
            <a:ext cx="2286000" cy="3090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27064" y="1115568"/>
            <a:ext cx="2286000" cy="4206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6272784" y="111556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Present 계층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300216" y="157276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 실행 &amp; 결과 포맷팅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18504" y="2075688"/>
            <a:ext cx="2103120" cy="219456"/>
          </a:xfrm>
          <a:prstGeom prst="rect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355080" y="2075688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execute_sql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18504" y="2322576"/>
            <a:ext cx="2103120" cy="219456"/>
          </a:xfrm>
          <a:prstGeom prst="rect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355080" y="2322576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analyze_data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18504" y="2569464"/>
            <a:ext cx="2103120" cy="219456"/>
          </a:xfrm>
          <a:prstGeom prst="rect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355080" y="2569464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format_response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11480" y="4370832"/>
            <a:ext cx="8321040" cy="53035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1" name="Shape 49"/>
          <p:cNvSpPr/>
          <p:nvPr/>
        </p:nvSpPr>
        <p:spPr>
          <a:xfrm>
            <a:off x="411480" y="4370832"/>
            <a:ext cx="64008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2" name="Text 50"/>
          <p:cNvSpPr/>
          <p:nvPr/>
        </p:nvSpPr>
        <p:spPr>
          <a:xfrm>
            <a:off x="594360" y="439826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clarification_handler는 모든 계층에서 진입 가능. 모호 쿼리 발생 시 사용자에게 질문을 던지고 원래 노드로 복귀 (AmbiguitySignal 기반 / T1~T5 트리거)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 계층 Zoom-in — 추론 루프 상세 ①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" y="1261872"/>
            <a:ext cx="1874520" cy="9601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261872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reasoning_preparer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22585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가설·탐색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수립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40864" y="1741932"/>
            <a:ext cx="146304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261872"/>
            <a:ext cx="1874520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261872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EXPLORING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context_retriever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22585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ES/Qdrant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/DB 검색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16552" y="1741932"/>
            <a:ext cx="146304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90288" y="1261872"/>
            <a:ext cx="1874520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590288" y="1261872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INTERPRETING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context_interpreter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90288" y="22585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해석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승격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92240" y="1741932"/>
            <a:ext cx="146304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65976" y="1261872"/>
            <a:ext cx="1874520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665976" y="1261872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EVALUATING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readiness_gate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65976" y="22585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확신도 판정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(0.65 기준)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8912" y="2651760"/>
            <a:ext cx="4315968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38912" y="26700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EXPLORE: 탐색 스텝 남음 시 context_retriever 재진입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0" y="1170432"/>
            <a:ext cx="324612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0" y="1170432"/>
            <a:ext cx="324612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0" y="117043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readiness_gate 판정 우선순위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577840" y="1700784"/>
            <a:ext cx="237744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0" y="17007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70448" y="166420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 가드 초과 (도구≥20, 재계획≥3, 생성≥4)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918704" y="166420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TERMINATE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77840" y="2130552"/>
            <a:ext cx="237744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5577840" y="2130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70448" y="2093976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CONFLICTED 항목 존재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18704" y="2093976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ASK_USER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77840" y="2560320"/>
            <a:ext cx="237744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5577840" y="25603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70448" y="252374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 ≥ 0.65 AND 핵심 항목 확인 완료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918704" y="2523744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GENERATE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77840" y="2990088"/>
            <a:ext cx="237744" cy="237744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39" name="Text 37"/>
          <p:cNvSpPr/>
          <p:nvPr/>
        </p:nvSpPr>
        <p:spPr>
          <a:xfrm>
            <a:off x="5577840" y="2990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70448" y="295351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스텝 남음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918704" y="2953512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EXPLORE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577840" y="3419856"/>
            <a:ext cx="237744" cy="23774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3" name="Text 41"/>
          <p:cNvSpPr/>
          <p:nvPr/>
        </p:nvSpPr>
        <p:spPr>
          <a:xfrm>
            <a:off x="5577840" y="34198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870448" y="338328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확신 부족 (score &lt; 0.30)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918704" y="338328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REPLAN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11480" y="3072384"/>
            <a:ext cx="4937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11480" y="3072384"/>
            <a:ext cx="493776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307238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확신도 점수 (Confidence Score) — 3차원 가중 평균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02920" y="3611880"/>
            <a:ext cx="146304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" y="3611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해소율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029968" y="3611880"/>
            <a:ext cx="384048" cy="25603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2" name="Text 50"/>
          <p:cNvSpPr/>
          <p:nvPr/>
        </p:nvSpPr>
        <p:spPr>
          <a:xfrm>
            <a:off x="2029968" y="36118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50%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487168" y="3566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CONFIRMED/PROBABLE 항목 수 / 전체 knowledge_items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02920" y="3995928"/>
            <a:ext cx="146304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5" name="Text 53"/>
          <p:cNvSpPr/>
          <p:nvPr/>
        </p:nvSpPr>
        <p:spPr>
          <a:xfrm>
            <a:off x="502920" y="3995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SQL 매칭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029968" y="3995928"/>
            <a:ext cx="384048" cy="25603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7" name="Text 55"/>
          <p:cNvSpPr/>
          <p:nvPr/>
        </p:nvSpPr>
        <p:spPr>
          <a:xfrm>
            <a:off x="2029968" y="399592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2487168" y="3950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탐색된 use_cases 중 최대 similarity 값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02920" y="4379976"/>
            <a:ext cx="146304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0" name="Text 58"/>
          <p:cNvSpPr/>
          <p:nvPr/>
        </p:nvSpPr>
        <p:spPr>
          <a:xfrm>
            <a:off x="502920" y="43799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조인 경로 확인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029968" y="4379976"/>
            <a:ext cx="384048" cy="25603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2" name="Text 60"/>
          <p:cNvSpPr/>
          <p:nvPr/>
        </p:nvSpPr>
        <p:spPr>
          <a:xfrm>
            <a:off x="2029968" y="437997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487168" y="43342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테이블이면 조인경로 확인 여부, 단일 테이블이면 1.0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486400" y="3072384"/>
            <a:ext cx="32461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5486400" y="3072384"/>
            <a:ext cx="324612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6" name="Text 64"/>
          <p:cNvSpPr/>
          <p:nvPr/>
        </p:nvSpPr>
        <p:spPr>
          <a:xfrm>
            <a:off x="5577840" y="307238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KnowledgeItem 상태 전이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577840" y="3566160"/>
            <a:ext cx="749808" cy="2743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8" name="Text 66"/>
          <p:cNvSpPr/>
          <p:nvPr/>
        </p:nvSpPr>
        <p:spPr>
          <a:xfrm>
            <a:off x="5577840" y="35661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UNRESOLVED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327648" y="3703320"/>
            <a:ext cx="118872" cy="0"/>
          </a:xfrm>
          <a:prstGeom prst="line">
            <a:avLst/>
          </a:prstGeom>
          <a:noFill/>
          <a:ln w="12700">
            <a:solidFill>
              <a:srgbClr val="1B2A4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55080" y="3566160"/>
            <a:ext cx="749808" cy="2743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71" name="Text 69"/>
          <p:cNvSpPr/>
          <p:nvPr/>
        </p:nvSpPr>
        <p:spPr>
          <a:xfrm>
            <a:off x="6355080" y="35661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CANDIDATE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7104888" y="3703320"/>
            <a:ext cx="118872" cy="0"/>
          </a:xfrm>
          <a:prstGeom prst="line">
            <a:avLst/>
          </a:prstGeom>
          <a:noFill/>
          <a:ln w="12700">
            <a:solidFill>
              <a:srgbClr val="1B2A4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32320" y="3566160"/>
            <a:ext cx="749808" cy="2743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4" name="Text 72"/>
          <p:cNvSpPr/>
          <p:nvPr/>
        </p:nvSpPr>
        <p:spPr>
          <a:xfrm>
            <a:off x="7132320" y="35661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PROBABLE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909560" y="3566160"/>
            <a:ext cx="749808" cy="274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6" name="Text 74"/>
          <p:cNvSpPr/>
          <p:nvPr/>
        </p:nvSpPr>
        <p:spPr>
          <a:xfrm>
            <a:off x="7909560" y="35661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CONFIRMED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5577840" y="3931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CONFIRMED/PROBABLE → 확신도 점수에 기여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577840" y="4251960"/>
            <a:ext cx="3063240" cy="38404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79" name="Text 77"/>
          <p:cNvSpPr/>
          <p:nvPr/>
        </p:nvSpPr>
        <p:spPr>
          <a:xfrm>
            <a:off x="5577840" y="42519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CONFLICTED → 사용자 확인 (T4 트리거)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 계층 Zoom-in — SQL 생성 · 검증 · 복구 ②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70432"/>
            <a:ext cx="416052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70432"/>
            <a:ext cx="4160520" cy="38404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7043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3-레이어 검증 (sql_validator)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673352"/>
            <a:ext cx="54864" cy="5669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916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1 — 안전성 검증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19476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DML 차단(INSERT/UPDATE/DELETE)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PII 컬럼 감지, 시스템 카탈로그 차단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SQLGlot 파싱 (dialect 지정)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331720"/>
            <a:ext cx="54864" cy="5669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500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2a — 구조 검증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26060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 BY / 집계 일관성 확인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LIMIT 존재 여부 검사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 * 경고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990088"/>
            <a:ext cx="54864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0837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2b — 의미 검증 (LLM)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326440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7점 체크리스트 대조 (선택적)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의도와 SQL 의미 정합성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조건 누락 감지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648456"/>
            <a:ext cx="54864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667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3 — 실행 검증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392277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LIMIT 5로 실제 DB 실행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db_source 라우팅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0건/에러 감지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297680"/>
            <a:ext cx="4160520" cy="62179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431596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실패 유형별 라우팅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5720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SUCCESS→finalizer  |  FAIL_SYNTAX→재생성(≤4회)  |  FAIL_SEMANTIC→recovery  |  FAIL_EMPTY→recovery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1170432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170432"/>
            <a:ext cx="402336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11704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 Agent — 재계획 전용 (최대 3회)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1746504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1746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0" y="167335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가설 FAILED 처리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00600" y="2130552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0" y="20574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DeadEnd 기록 (실패 경로 학습)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00600" y="2514600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2514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20640" y="2441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1회: 새 execution_plan 수립 + 선택적 가설 재생성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00600" y="2898648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2898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20640" y="282549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plan → context_retriever 재진입 (EXPLORING)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800600" y="3282696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3282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20640" y="320954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불가능 판단 시 force_generate 또는 give_up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709160" y="3547872"/>
            <a:ext cx="4023360" cy="13350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9160" y="3547872"/>
            <a:ext cx="4023360" cy="38404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35478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 가드 (LoopGuard) — 무한루프 방지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800600" y="40416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total_tool_calls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565392" y="4069080"/>
            <a:ext cx="475488" cy="1645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7" name="Text 45"/>
          <p:cNvSpPr/>
          <p:nvPr/>
        </p:nvSpPr>
        <p:spPr>
          <a:xfrm>
            <a:off x="6565392" y="406908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20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086600" y="40416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TERMINATE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00600" y="4251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replan_count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565392" y="4279392"/>
            <a:ext cx="475488" cy="1645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1" name="Text 49"/>
          <p:cNvSpPr/>
          <p:nvPr/>
        </p:nvSpPr>
        <p:spPr>
          <a:xfrm>
            <a:off x="6565392" y="42793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086600" y="4251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TERMINATE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00600" y="44622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generate_attempts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565392" y="4489704"/>
            <a:ext cx="475488" cy="1645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5" name="Text 53"/>
          <p:cNvSpPr/>
          <p:nvPr/>
        </p:nvSpPr>
        <p:spPr>
          <a:xfrm>
            <a:off x="6565392" y="44897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4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086600" y="44622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TERMINATE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800600" y="46725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local_fix_count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565392" y="4700016"/>
            <a:ext cx="475488" cy="1645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9" name="Text 57"/>
          <p:cNvSpPr/>
          <p:nvPr/>
        </p:nvSpPr>
        <p:spPr>
          <a:xfrm>
            <a:off x="6565392" y="470001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2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086600" y="46725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REPLAN 에스컬레이션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Present 계층 상세 — 실행 · 분석 · 포맷팅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70432"/>
            <a:ext cx="832104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70432"/>
            <a:ext cx="64008" cy="117043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" y="1170432"/>
            <a:ext cx="2011680" cy="34747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1704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execute_sql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1609344"/>
            <a:ext cx="91440" cy="9144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157276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방어: 실행 전 validate_sql_safety() 재검증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1769364"/>
            <a:ext cx="91440" cy="9144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173278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전용 계정 (SELECT 전용)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1929384"/>
            <a:ext cx="91440" cy="9144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189280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행 수 제한: 기본 10,000건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2089404"/>
            <a:ext cx="91440" cy="9144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205282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시간 측정 → sql_result.execution_time_ms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2249424"/>
            <a:ext cx="91440" cy="9144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221284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의도 → analyze_data / 그 외 → format_response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2468880"/>
            <a:ext cx="832104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468880"/>
            <a:ext cx="64008" cy="1170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" y="2468880"/>
            <a:ext cx="201168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468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analyze_data (DATA_ANALYSIS 전용)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290779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2871216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통계 분석: LLM → summary, insights[], statistics{}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" y="306781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3031236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시각화 판정: LLM → bar/line/pie/table/none 결정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322783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3191256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SVG 생성 3-Tier 폴백: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4360" y="338785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3351276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Tier 1: LLM 직접 SVG 생성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4360" y="354787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3511296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Tier 2: 규칙 기반 chart_generator / Tier 3: NONE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11480" y="3767328"/>
            <a:ext cx="832104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11480" y="3767328"/>
            <a:ext cx="64008" cy="1170432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6" name="Shape 34"/>
          <p:cNvSpPr/>
          <p:nvPr/>
        </p:nvSpPr>
        <p:spPr>
          <a:xfrm>
            <a:off x="475488" y="3767328"/>
            <a:ext cx="2011680" cy="347472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" y="3767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format_response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94360" y="4206240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9" name="Text 37"/>
          <p:cNvSpPr/>
          <p:nvPr/>
        </p:nvSpPr>
        <p:spPr>
          <a:xfrm>
            <a:off x="749808" y="416966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Rule-based 결정론적 포맷팅 (LLM 호출 없음)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94360" y="4366260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41" name="Text 39"/>
          <p:cNvSpPr/>
          <p:nvPr/>
        </p:nvSpPr>
        <p:spPr>
          <a:xfrm>
            <a:off x="749808" y="432968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용어 최소화 (SQL, JOIN, WHERE 미사용)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94360" y="4526280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448970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숫자: 금액(만원/억원), 비율(%), 건수 단위 변환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94360" y="4686300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45" name="Text 43"/>
          <p:cNvSpPr/>
          <p:nvPr/>
        </p:nvSpPr>
        <p:spPr>
          <a:xfrm>
            <a:off x="749808" y="464972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날짜: "2026년 3월" 형태로 자연어 출력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94360" y="4846320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47" name="Text 45"/>
          <p:cNvSpPr/>
          <p:nvPr/>
        </p:nvSpPr>
        <p:spPr>
          <a:xfrm>
            <a:off x="749808" y="480974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부재 시: 원인 분석 + 대안 제시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11480" y="4956048"/>
            <a:ext cx="8321040" cy="1554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9" name="Text 47"/>
          <p:cNvSpPr/>
          <p:nvPr/>
        </p:nvSpPr>
        <p:spPr>
          <a:xfrm>
            <a:off x="502920" y="4956048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추출 → format_response (빠른 반환)  |  데이터 분석 → analyze_data → format_response (인사이트 + 시각화 포함)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활용 노하우 — AI 협업 개발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70432"/>
            <a:ext cx="4160520" cy="2029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70432"/>
            <a:ext cx="416052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704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Sub-Agents — 역할별 전문 에이전트 15종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73352"/>
            <a:ext cx="1188720" cy="219456"/>
          </a:xfrm>
          <a:prstGeom prst="rect">
            <a:avLst/>
          </a:prstGeom>
          <a:solidFill>
            <a:srgbClr val="1B2A4A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6733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pipeline-designer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37360" y="162763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설계 (Opus)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1673352"/>
            <a:ext cx="1188720" cy="219456"/>
          </a:xfrm>
          <a:prstGeom prst="rect">
            <a:avLst/>
          </a:prstGeom>
          <a:solidFill>
            <a:srgbClr val="1B2A4A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6733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research-analyst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94760" y="162763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리서치 (Sonnet)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020824"/>
            <a:ext cx="1188720" cy="219456"/>
          </a:xfrm>
          <a:prstGeom prst="rect">
            <a:avLst/>
          </a:prstGeom>
          <a:solidFill>
            <a:srgbClr val="1B2A4A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0208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nl-sql-developer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37360" y="197510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NL→SQL 구현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0" y="2020824"/>
            <a:ext cx="1188720" cy="219456"/>
          </a:xfrm>
          <a:prstGeom prst="rect">
            <a:avLst/>
          </a:prstGeom>
          <a:solidFill>
            <a:srgbClr val="1B2A4A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0" y="20208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prompt-engineer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94760" y="197510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최적화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2368296"/>
            <a:ext cx="1188720" cy="219456"/>
          </a:xfrm>
          <a:prstGeom prst="rect">
            <a:avLst/>
          </a:prstGeom>
          <a:solidFill>
            <a:srgbClr val="1B2A4A">
              <a:alpha val="8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3682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code-reviewer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37360" y="232257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품질 리뷰 (Opus)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0" y="2368296"/>
            <a:ext cx="1188720" cy="219456"/>
          </a:xfrm>
          <a:prstGeom prst="rect">
            <a:avLst/>
          </a:prstGeom>
          <a:solidFill>
            <a:srgbClr val="1B2A4A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560320" y="23682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security-guard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232257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보안·PII 감사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2715768"/>
            <a:ext cx="1188720" cy="219456"/>
          </a:xfrm>
          <a:prstGeom prst="rect">
            <a:avLst/>
          </a:prstGeom>
          <a:solidFill>
            <a:srgbClr val="1B2A4A">
              <a:alpha val="8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27157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test-generator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737360" y="267004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자동 생성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0" y="2715768"/>
            <a:ext cx="1188720" cy="219456"/>
          </a:xfrm>
          <a:prstGeom prst="rect">
            <a:avLst/>
          </a:prstGeom>
          <a:solidFill>
            <a:srgbClr val="1B2A4A">
              <a:alpha val="8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2560320" y="27157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domain-expert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94760" y="267004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도메인 전문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1480" y="3273552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11480" y="3273552"/>
            <a:ext cx="416052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327355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Skills — 반복 작업 자동화 커맨드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3794760"/>
            <a:ext cx="914400" cy="246888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79476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/plan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536192" y="3794760"/>
            <a:ext cx="914400" cy="246888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536192" y="379476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/seed-*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23744" y="3794760"/>
            <a:ext cx="914400" cy="246888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2523744" y="379476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/benchmark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511296" y="3794760"/>
            <a:ext cx="914400" cy="246888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511296" y="379476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/design-review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8640" y="4178808"/>
            <a:ext cx="914400" cy="246888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417880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/write-docs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536192" y="4178808"/>
            <a:ext cx="914400" cy="246888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536192" y="417880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/simplify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523744" y="4178808"/>
            <a:ext cx="914400" cy="246888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2523744" y="417880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/annotate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511296" y="4178808"/>
            <a:ext cx="914400" cy="246888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3511296" y="417880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/verify-test-data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709160" y="1170432"/>
            <a:ext cx="4023360" cy="2029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09160" y="1170432"/>
            <a:ext cx="402336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4" name="Text 52"/>
          <p:cNvSpPr/>
          <p:nvPr/>
        </p:nvSpPr>
        <p:spPr>
          <a:xfrm>
            <a:off x="4800600" y="11704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구조 &amp; CLAUDE.md 설계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800600" y="1682496"/>
            <a:ext cx="1280160" cy="219456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4800600" y="16824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144768" y="16276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4종, 기술스택, 개발지침, 도메인 컨텍스트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00600" y="2029968"/>
            <a:ext cx="1280160" cy="219456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4800600" y="20299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.claude/agents/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144768" y="197510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 에이전트 정의 (모델·도구·메모리 지정)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800600" y="2377440"/>
            <a:ext cx="1280160" cy="219456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4800600" y="23774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.claude/agent-memory/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144768" y="23225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에이전트별 프로젝트 지식 영속화 (MEMORY.md)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800600" y="2724912"/>
            <a:ext cx="1280160" cy="219456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4800600" y="27249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.claude/rules/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144768" y="26700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code-style / financial-domain / data-security / user-interaction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800600" y="3072384"/>
            <a:ext cx="1280160" cy="219456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4800600" y="30723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.claude/skills/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144768" y="3017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작업 자동화 스킬 (user_invocable 지정)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709160" y="3273552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4709160" y="3273552"/>
            <a:ext cx="4023360" cy="3657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2" name="Text 70"/>
          <p:cNvSpPr/>
          <p:nvPr/>
        </p:nvSpPr>
        <p:spPr>
          <a:xfrm>
            <a:off x="4800600" y="3273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협업 방식 &amp; 하네스 엔지니어링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4800600" y="3730752"/>
            <a:ext cx="109728" cy="10972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74" name="Text 72"/>
          <p:cNvSpPr/>
          <p:nvPr/>
        </p:nvSpPr>
        <p:spPr>
          <a:xfrm>
            <a:off x="4974336" y="3694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연구(research-analyst) → 설계(pipeline-designer) → 구현 → 리뷰(code-reviewer) 사이클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800600" y="4005072"/>
            <a:ext cx="109728" cy="10972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76" name="Text 74"/>
          <p:cNvSpPr/>
          <p:nvPr/>
        </p:nvSpPr>
        <p:spPr>
          <a:xfrm>
            <a:off x="4974336" y="3968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메모리로 context 누적 → 세션 재시작 후에도 지식 유지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800600" y="4279392"/>
            <a:ext cx="109728" cy="10972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78" name="Text 76"/>
          <p:cNvSpPr/>
          <p:nvPr/>
        </p:nvSpPr>
        <p:spPr>
          <a:xfrm>
            <a:off x="4974336" y="4242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하네스: 골든셋 기반 SQL 정확도 측정 (목표 90% 이상)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800600" y="4553712"/>
            <a:ext cx="109728" cy="10972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0" name="Text 78"/>
          <p:cNvSpPr/>
          <p:nvPr/>
        </p:nvSpPr>
        <p:spPr>
          <a:xfrm>
            <a:off x="4974336" y="45171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기준: 평균 응답 ≤ 5초, 재질문 비율 ≤ 15%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폐쇄망 배포 전략 — 설정 교체만으로 LLM 모델 전환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70432"/>
            <a:ext cx="8321040" cy="40233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170432"/>
            <a:ext cx="64008" cy="402336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170432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폐쇄망에는 외부 API 불가 — 온프레미스 오픈소스 LLM + 내부 벡터 스토어로 전체 스택을 자급 운영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691640"/>
            <a:ext cx="3931920" cy="32918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6916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전환 로드맵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103120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103120"/>
            <a:ext cx="54864" cy="658368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2231136"/>
            <a:ext cx="822960" cy="256032"/>
          </a:xfrm>
          <a:prstGeom prst="rect">
            <a:avLst/>
          </a:prstGeom>
          <a:solidFill>
            <a:srgbClr val="3A7BD5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2311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완료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15798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단계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3957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Sonnet / Opus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59689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API — 최고 성능 기준선 확보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852928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852928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Shape 18"/>
          <p:cNvSpPr/>
          <p:nvPr/>
        </p:nvSpPr>
        <p:spPr>
          <a:xfrm>
            <a:off x="3474720" y="2980944"/>
            <a:ext cx="822960" cy="256032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29809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운영 중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290779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폐쇄망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14553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 Pro 2 (70B)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34670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온프레미스 배포 — OpenAI-compatible API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602736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602736"/>
            <a:ext cx="54864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Shape 25"/>
          <p:cNvSpPr/>
          <p:nvPr/>
        </p:nvSpPr>
        <p:spPr>
          <a:xfrm>
            <a:off x="3474720" y="3730752"/>
            <a:ext cx="822960" cy="256032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0" y="37307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계획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365760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업그레이드 예정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389534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Qwen3 397B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40965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Thinking 모드 지원 · 다국어 강점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1480" y="271576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" y="34747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480560" y="1691640"/>
            <a:ext cx="4251960" cy="32918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0" y="169164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폐쇄망 전환 시 핵심 고려사항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480560" y="2103120"/>
            <a:ext cx="4251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480560" y="2103120"/>
            <a:ext cx="54864" cy="658368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38" name="Text 36"/>
          <p:cNvSpPr/>
          <p:nvPr/>
        </p:nvSpPr>
        <p:spPr>
          <a:xfrm>
            <a:off x="4608576" y="2157984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구조화 더 중요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608576" y="2432304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모델일수록 지시가 모호하면 성능이 급락. XML 태그·단계 분리·예시 포함 필수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480560" y="2852928"/>
            <a:ext cx="4251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480560" y="2852928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4608576" y="2907792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출력 안정성 확보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608576" y="3182112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 thinking 모드 시 &lt;think&gt; 태그 제거 후 파싱. Pydantic 스키마로 강제 검증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480560" y="3602736"/>
            <a:ext cx="4251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480560" y="3602736"/>
            <a:ext cx="54864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6" name="Text 44"/>
          <p:cNvSpPr/>
          <p:nvPr/>
        </p:nvSpPr>
        <p:spPr>
          <a:xfrm>
            <a:off x="4608576" y="3657600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없음 → 로컬 스토어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608576" y="3931920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Qdrant·MongoDB·Redis 모두 온프레미스. 임베딩 모델도 내부 서버 운영 필요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480560" y="4352544"/>
            <a:ext cx="4251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480560" y="4352544"/>
            <a:ext cx="54864" cy="65836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0" name="Text 48"/>
          <p:cNvSpPr/>
          <p:nvPr/>
        </p:nvSpPr>
        <p:spPr>
          <a:xfrm>
            <a:off x="4608576" y="4407408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파일만 교체로 전환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608576" y="4681728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LLM_PROVIDER / MODEL_NAME 환경변수 교체 시 코드 무변경 전환 설계 완료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73152"/>
            <a:ext cx="2560320" cy="4997196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365760"/>
            <a:ext cx="1645920" cy="1645920"/>
          </a:xfrm>
          <a:prstGeom prst="ellipse">
            <a:avLst/>
          </a:prstGeom>
          <a:solidFill>
            <a:srgbClr val="3A7BD5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2926080"/>
            <a:ext cx="1280160" cy="1280160"/>
          </a:xfrm>
          <a:prstGeom prst="ellipse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FD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560320" y="3273552"/>
            <a:ext cx="18288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4290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AI &amp; LangGraph 기반 Data Copilot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82219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VSCode + Claude Code 활용 프로젝트  |  2026.04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&amp; LangGraph 기반 데이터 분석 챗봇 v2</dc:title>
  <dc:subject>PptxGenJS Presentation</dc:subject>
  <dc:creator>PptxGenJS</dc:creator>
  <cp:lastModifiedBy>PptxGenJS</cp:lastModifiedBy>
  <cp:revision>1</cp:revision>
  <dcterms:created xsi:type="dcterms:W3CDTF">2026-04-08T06:07:13Z</dcterms:created>
  <dcterms:modified xsi:type="dcterms:W3CDTF">2026-04-08T06:07:13Z</dcterms:modified>
</cp:coreProperties>
</file>