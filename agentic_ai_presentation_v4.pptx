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" name="Shape 2"/>
          <p:cNvSpPr/>
          <p:nvPr/>
        </p:nvSpPr>
        <p:spPr>
          <a:xfrm>
            <a:off x="6492240" y="54864"/>
            <a:ext cx="2651760" cy="50337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0" y="1097280"/>
            <a:ext cx="2651760" cy="1828800"/>
          </a:xfrm>
          <a:prstGeom prst="rect">
            <a:avLst/>
          </a:prstGeom>
          <a:solidFill>
            <a:srgbClr val="58A6FF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65760"/>
            <a:ext cx="201168" cy="201168"/>
          </a:xfrm>
          <a:prstGeom prst="ellipse">
            <a:avLst/>
          </a:prstGeom>
          <a:solidFill>
            <a:srgbClr val="58A6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5472" y="594360"/>
            <a:ext cx="201168" cy="201168"/>
          </a:xfrm>
          <a:prstGeom prst="ellipse">
            <a:avLst/>
          </a:prstGeom>
          <a:solidFill>
            <a:srgbClr val="3FB950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552944" y="822960"/>
            <a:ext cx="201168" cy="201168"/>
          </a:xfrm>
          <a:prstGeom prst="ellipse">
            <a:avLst/>
          </a:prstGeom>
          <a:solidFill>
            <a:srgbClr val="D29922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00416" y="1051560"/>
            <a:ext cx="201168" cy="201168"/>
          </a:xfrm>
          <a:prstGeom prst="ellipse">
            <a:avLst/>
          </a:prstGeom>
          <a:solidFill>
            <a:srgbClr val="F85149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00584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 데이터 분석 챗봇 개발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01168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747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내 기술 공유 세션  ·  2026.04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/ Agenda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384048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85032" y="1161288"/>
            <a:ext cx="658368" cy="219456"/>
          </a:xfrm>
          <a:prstGeom prst="rect">
            <a:avLst/>
          </a:prstGeom>
          <a:solidFill>
            <a:srgbClr val="58A6FF">
              <a:alpha val="8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161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11430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개념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15544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 · LLM 한계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29968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195681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4요소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432304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35915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(코드)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1078992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78992"/>
            <a:ext cx="3977640" cy="384048"/>
          </a:xfrm>
          <a:prstGeom prst="rect">
            <a:avLst/>
          </a:prstGeom>
          <a:solidFill>
            <a:srgbClr val="3FB950">
              <a:alpha val="8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45552" y="1161288"/>
            <a:ext cx="658368" cy="219456"/>
          </a:xfrm>
          <a:prstGeom prst="rect">
            <a:avLst/>
          </a:prstGeom>
          <a:solidFill>
            <a:srgbClr val="3FB950">
              <a:alpha val="80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16128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45736" y="114300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프레임워크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627632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946904" y="1554480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소개 &amp; 코드 구조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00600" y="2029968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4946904" y="195681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· Conditional Edge · 자기평가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00600" y="2432304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4946904" y="235915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체크포인터 &amp; 멀티턴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172968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72968"/>
            <a:ext cx="3977640" cy="384048"/>
          </a:xfrm>
          <a:prstGeom prst="rect">
            <a:avLst/>
          </a:prstGeom>
          <a:solidFill>
            <a:srgbClr val="58A6FF">
              <a:alpha val="8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85032" y="3255264"/>
            <a:ext cx="658368" cy="219456"/>
          </a:xfrm>
          <a:prstGeom prst="rect">
            <a:avLst/>
          </a:prstGeom>
          <a:solidFill>
            <a:srgbClr val="58A6FF">
              <a:alpha val="8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5032" y="32552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Copilot 구현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3721608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364845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 도전과제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4123944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4" name="Text 32"/>
          <p:cNvSpPr/>
          <p:nvPr/>
        </p:nvSpPr>
        <p:spPr>
          <a:xfrm>
            <a:off x="786384" y="405079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전략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0080" y="4526280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6" name="Text 34"/>
          <p:cNvSpPr/>
          <p:nvPr/>
        </p:nvSpPr>
        <p:spPr>
          <a:xfrm>
            <a:off x="786384" y="4453128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흐름 · 계층 상세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617720" y="3172968"/>
            <a:ext cx="397764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172968"/>
            <a:ext cx="3977640" cy="384048"/>
          </a:xfrm>
          <a:prstGeom prst="rect">
            <a:avLst/>
          </a:prstGeom>
          <a:solidFill>
            <a:srgbClr val="D29922">
              <a:alpha val="85000"/>
            </a:srgbClr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45552" y="3255264"/>
            <a:ext cx="658368" cy="219456"/>
          </a:xfrm>
          <a:prstGeom prst="rect">
            <a:avLst/>
          </a:prstGeom>
          <a:solidFill>
            <a:srgbClr val="D29922">
              <a:alpha val="80000"/>
            </a:srgbClr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325526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45736" y="323697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&amp; 개발 방법론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00600" y="3721608"/>
            <a:ext cx="82296" cy="82296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3648456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(LLM 교체)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00600" y="4123944"/>
            <a:ext cx="82296" cy="82296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5" name="Text 43"/>
          <p:cNvSpPr/>
          <p:nvPr/>
        </p:nvSpPr>
        <p:spPr>
          <a:xfrm>
            <a:off x="4946904" y="4050792"/>
            <a:ext cx="3575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/ Agentic Loop란?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단순 LLM = 질문 1개 → 응답 1개 → 종료.  복잡한 다단계 문제·외부 정보 접근 불가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  이를 해결하기 위해 Agentic AI 등장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82880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달성까지  계획 → 도구 호출 → 결과 평가 → 재시도  를 스스로 반복하는 AI 시스템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1508760" cy="804672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Perceive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65960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2377440"/>
            <a:ext cx="1508760" cy="804672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4" name="Text 12"/>
          <p:cNvSpPr/>
          <p:nvPr/>
        </p:nvSpPr>
        <p:spPr>
          <a:xfrm>
            <a:off x="2139696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48456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2377440"/>
            <a:ext cx="1508760" cy="804672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17" name="Text 15"/>
          <p:cNvSpPr/>
          <p:nvPr/>
        </p:nvSpPr>
        <p:spPr>
          <a:xfrm>
            <a:off x="3822192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30952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2377440"/>
            <a:ext cx="1508760" cy="804672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Observe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13448" y="2779776"/>
            <a:ext cx="173736" cy="0"/>
          </a:xfrm>
          <a:prstGeom prst="line">
            <a:avLst/>
          </a:prstGeom>
          <a:noFill/>
          <a:ln w="19050">
            <a:solidFill>
              <a:srgbClr val="58A6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2377440"/>
            <a:ext cx="1508760" cy="804672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7187184" y="2377440"/>
            <a:ext cx="1508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57200" y="32826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 시까지 반복 (Feedback Loop)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57600"/>
            <a:ext cx="38862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03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" y="400507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한 번 응답 → 종료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43400" y="38404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846320" y="3657600"/>
            <a:ext cx="393192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0050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계획 → 반복 추론 → 목표 달성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에이전트의 핵심 구성요소 — 4가지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97764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3685032" y="1207008"/>
            <a:ext cx="658368" cy="219456"/>
          </a:xfrm>
          <a:prstGeom prst="rect">
            <a:avLst/>
          </a:prstGeom>
          <a:solidFill>
            <a:srgbClr val="58A6FF">
              <a:alpha val="8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118872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— 도구 호출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" y="155448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160934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외부 도구(DB·검색·API) 호출 요청 → 코드가 실행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" y="195681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자체 지식의 한계를 실시간 데이터로 보완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" y="239572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3957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tool_executor_node  →  ToolMessage(result)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09728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097280"/>
            <a:ext cx="397764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Shape 15"/>
          <p:cNvSpPr/>
          <p:nvPr/>
        </p:nvSpPr>
        <p:spPr>
          <a:xfrm>
            <a:off x="7845552" y="1207008"/>
            <a:ext cx="658368" cy="219456"/>
          </a:xfrm>
          <a:prstGeom prst="rect">
            <a:avLst/>
          </a:prstGeom>
          <a:solidFill>
            <a:srgbClr val="3FB950">
              <a:alpha val="80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45552" y="120700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64024" y="118872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— 기억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64024" y="155448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64024" y="160934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단기: messages[] 대화 이력  /  장기: Checkpointer 스냅샷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64024" y="195681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thread_id 기반 세션 State 영속화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64024" y="239572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23957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AsyncPostgresSaver  /  thread_id=session_id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17520"/>
            <a:ext cx="3977640" cy="54864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27" name="Shape 25"/>
          <p:cNvSpPr/>
          <p:nvPr/>
        </p:nvSpPr>
        <p:spPr>
          <a:xfrm>
            <a:off x="3685032" y="3127248"/>
            <a:ext cx="658368" cy="219456"/>
          </a:xfrm>
          <a:prstGeom prst="rect">
            <a:avLst/>
          </a:prstGeom>
          <a:solidFill>
            <a:srgbClr val="9E6A03">
              <a:alpha val="80000"/>
            </a:srgbClr>
          </a:solidFill>
          <a:ln w="6350">
            <a:solidFill>
              <a:srgbClr val="9E6A0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504" y="310896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Planning — 계획 수립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" y="347472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352958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목표를 세부 단계로 분해 → 순서·우선순위 자율 결정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" y="387705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6A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reasoning_preparer 노드가 실행 계획 수립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3504" y="431596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" y="4315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reasoning_preparer  →  execution_plan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017520"/>
            <a:ext cx="3977640" cy="1719072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017520"/>
            <a:ext cx="3977640" cy="54864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37" name="Shape 35"/>
          <p:cNvSpPr/>
          <p:nvPr/>
        </p:nvSpPr>
        <p:spPr>
          <a:xfrm>
            <a:off x="7845552" y="3127248"/>
            <a:ext cx="658368" cy="219456"/>
          </a:xfrm>
          <a:prstGeom prst="rect">
            <a:avLst/>
          </a:prstGeom>
          <a:solidFill>
            <a:srgbClr val="6E40C9">
              <a:alpha val="80000"/>
            </a:srgbClr>
          </a:solidFill>
          <a:ln w="6350">
            <a:solidFill>
              <a:srgbClr val="6E40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45552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64024" y="3108960"/>
            <a:ext cx="3044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 — 자기 평가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764024" y="3474720"/>
            <a:ext cx="370332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3529584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결과를 검토 → 실패 시 원인 분석 후 REPLAN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64024" y="3877056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Conditional Edge + recovery_agent 구현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64024" y="4315968"/>
            <a:ext cx="3703320" cy="31089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Text 42"/>
          <p:cNvSpPr/>
          <p:nvPr/>
        </p:nvSpPr>
        <p:spPr>
          <a:xfrm>
            <a:off x="4818888" y="431596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route_after_validation()  →  REPLAN / DONE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LLM의 한계 — 에이전트가 해결하는 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84048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LLM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78992"/>
            <a:ext cx="384048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1338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54480"/>
            <a:ext cx="54864" cy="5303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554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단절 — 학습 이후 최신 정보 없음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554480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554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Use로 실시간 DB · 검색 접근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12848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12848"/>
            <a:ext cx="54864" cy="5303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2128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단발성 — 다단계 문제 처리 불가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212848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212848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Loop로 목표 달성까지 반복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871216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71216"/>
            <a:ext cx="54864" cy="5303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8712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환각(Hallucination) — 틀린 내용 자신 있게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871216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871216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8712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Self-Reflection으로 결과 검증 후 재시도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529584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529584"/>
            <a:ext cx="54864" cy="5303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5295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없음 — DB · API 접근 불가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3529584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529584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52958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Executor 노드가 실제 실행 담당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187952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187952"/>
            <a:ext cx="54864" cy="530352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없음 — 맥락 장기 유지 어려움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46320" y="4187952"/>
            <a:ext cx="384048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46320" y="4187952"/>
            <a:ext cx="54864" cy="53035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187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Checkpointer로 State 영속화 · 멀티턴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 동작 원리 — LLM은 JSON을 출력할 뿐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LLM은 "어떤 툴을 써야 할지" 결정하는 JSON 텍스트를 출력.  실제 실행은 항상 코드(LangGraph 노드)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1508760" cy="69494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질문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스키마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0552" y="1536192"/>
            <a:ext cx="1508760" cy="694944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11" name="Text 9"/>
          <p:cNvSpPr/>
          <p:nvPr/>
        </p:nvSpPr>
        <p:spPr>
          <a:xfrm>
            <a:off x="2130552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LLM 출력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tool_use JSON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39312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03904" y="1536192"/>
            <a:ext cx="1508760" cy="694944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14" name="Text 12"/>
          <p:cNvSpPr/>
          <p:nvPr/>
        </p:nvSpPr>
        <p:spPr>
          <a:xfrm>
            <a:off x="3803904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코드가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실행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12664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77256" y="1536192"/>
            <a:ext cx="1508760" cy="694944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17" name="Text 15"/>
          <p:cNvSpPr/>
          <p:nvPr/>
        </p:nvSpPr>
        <p:spPr>
          <a:xfrm>
            <a:off x="5477256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결과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messages[]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86016" y="1883664"/>
            <a:ext cx="164592" cy="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0608" y="1536192"/>
            <a:ext cx="1508760" cy="694944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20" name="Text 18"/>
          <p:cNvSpPr/>
          <p:nvPr/>
        </p:nvSpPr>
        <p:spPr>
          <a:xfrm>
            <a:off x="7150608" y="153619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다시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호출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304288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457200" y="23225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목표 달성까지 반복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3566160" cy="23591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651760"/>
            <a:ext cx="35661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26517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구조가 핵심인 이유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" y="3081528"/>
            <a:ext cx="82296" cy="82296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3008376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= "무엇을 할지" 결정 (Planner)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" y="3465576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39242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DB·API·검색은 코드 레이어 실행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1792" y="384962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77647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messages[]에 누적 → 맥락 축적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" y="4233672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노드 = 각 Tool 실행 단위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1792" y="4617720"/>
            <a:ext cx="82296" cy="822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44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시 다른 전략으로 재선택 가능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60520" y="2651760"/>
            <a:ext cx="4617720" cy="2359152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0520" y="2651760"/>
            <a:ext cx="46177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2743200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9" name="Shape 37"/>
          <p:cNvSpPr/>
          <p:nvPr/>
        </p:nvSpPr>
        <p:spPr>
          <a:xfrm>
            <a:off x="4379976" y="2743200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7992" y="2743200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4617720" y="2651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nodes/reason/tool_executor.py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97680" y="30358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tool_executor_node(state):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297680" y="3198571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 = state["messages"][-1]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97680" y="336133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① LLM이 tool_use 블록 출력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97680" y="352409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msg.type != "tool_use":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0" y="3686861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{}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297680" y="38496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297680" y="4012387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② 실제 실행은 우리 코드에서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0" y="417515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execute_sql(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97680" y="433791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msg.input["query"])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97680" y="4500677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297680" y="4663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③ 결과를 messages[]에 추가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97680" y="4826203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297680" y="498896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ToolMessage(result, msg.id)]}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에이전틱 AI 프레임워크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42062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LangGraph는 LLM 기반 멀티-에이전트·사이클릭 워크플로우를 Graph로 정의·실행하는 Python 오픈소스 프레임워크 (by LangChain 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64208"/>
            <a:ext cx="196596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1737360"/>
            <a:ext cx="658368" cy="219456"/>
          </a:xfrm>
          <a:prstGeom prst="rect">
            <a:avLst/>
          </a:prstGeom>
          <a:solidFill>
            <a:srgbClr val="58A6FF">
              <a:alpha val="8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85216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5216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처리 단계.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함수(async def) 1개 = 노드 1개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87752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87752" y="1664208"/>
            <a:ext cx="19659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6" name="Shape 14"/>
          <p:cNvSpPr/>
          <p:nvPr/>
        </p:nvSpPr>
        <p:spPr>
          <a:xfrm>
            <a:off x="3822192" y="1737360"/>
            <a:ext cx="658368" cy="219456"/>
          </a:xfrm>
          <a:prstGeom prst="rect">
            <a:avLst/>
          </a:prstGeom>
          <a:solidFill>
            <a:srgbClr val="3FB950">
              <a:alpha val="80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715768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715768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15768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간 흐름 연결.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Edge로 분기 처리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18304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18304" y="1664208"/>
            <a:ext cx="1965960" cy="54864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23" name="Shape 21"/>
          <p:cNvSpPr/>
          <p:nvPr/>
        </p:nvSpPr>
        <p:spPr>
          <a:xfrm>
            <a:off x="5952744" y="1737360"/>
            <a:ext cx="658368" cy="219456"/>
          </a:xfrm>
          <a:prstGeom prst="rect">
            <a:avLst/>
          </a:prstGeom>
          <a:solidFill>
            <a:srgbClr val="9E6A03">
              <a:alpha val="80000"/>
            </a:srgbClr>
          </a:solidFill>
          <a:ln w="6350">
            <a:solidFill>
              <a:srgbClr val="9E6A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52744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46320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전체 공유 데이터.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TypedDict 기반 단일 컨텍스트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48856" y="1664208"/>
            <a:ext cx="1965960" cy="1874520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48856" y="1664208"/>
            <a:ext cx="1965960" cy="54864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30" name="Shape 28"/>
          <p:cNvSpPr/>
          <p:nvPr/>
        </p:nvSpPr>
        <p:spPr>
          <a:xfrm>
            <a:off x="8083296" y="1737360"/>
            <a:ext cx="658368" cy="219456"/>
          </a:xfrm>
          <a:prstGeom prst="rect">
            <a:avLst/>
          </a:prstGeom>
          <a:solidFill>
            <a:srgbClr val="6E40C9">
              <a:alpha val="80000"/>
            </a:srgbClr>
          </a:solidFill>
          <a:ln w="6350">
            <a:solidFill>
              <a:srgbClr val="6E40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83296" y="1737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76872" y="17190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76872" y="2157984"/>
            <a:ext cx="17373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2212848"/>
            <a:ext cx="1737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DAG와 달리 순환 지원.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루프·재시도가 핵심 특성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3657600"/>
            <a:ext cx="8321040" cy="135331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712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LangGraph?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078224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" y="4005072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루프·상태 관리를 선언적으로 구현  /  LangSmith 실행 추적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" y="4389120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4315968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스트리밍·Checkpointer·Human-in-the-Loop(HIL) 내장  /  비동기(async) 지원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" y="4700016"/>
            <a:ext cx="82296" cy="82296"/>
          </a:xfrm>
          <a:prstGeom prst="ellipse">
            <a:avLst/>
          </a:prstGeom>
          <a:solidFill>
            <a:srgbClr val="8B949E"/>
          </a:solidFill>
          <a:ln/>
        </p:spPr>
      </p:sp>
      <p:sp>
        <p:nvSpPr>
          <p:cNvPr id="42" name="Text 40"/>
          <p:cNvSpPr/>
          <p:nvPr/>
        </p:nvSpPr>
        <p:spPr>
          <a:xfrm>
            <a:off x="768096" y="4626864"/>
            <a:ext cx="7909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Edge로 성공/실패/재시도 분기를 그래프 레벨에서 제어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— 핵심 구조 (코드)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8463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8463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graph/builder.py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264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State 정의 — 노드 간 공유 컨텍스트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5956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PipelineState(TypedDict):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7647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339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normalized_query: NormalizedQuery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generated_sql: 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722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replan_count: int  # 루프 방지 카운터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4414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6106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노드 등록 — 함수 1개 = 처리 단계 1개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797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 = StateGraph(PipelineState)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9489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builder.add_node("sql_gen", sql_generator)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118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builder.add_node("validator", sql_validator)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2872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4564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Conditional Edge — 자기평가 분기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62559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builder.add_conditional_edges(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794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"validator", route_after_validation,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9639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{"pass": "execute", "fail": "recovery",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13308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"terminate": "finalizer"})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3022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4714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컴파일 — Checkpointer 연결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6405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builder.compile(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checkpointer=checkpointer)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0" y="10789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1536192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1536192"/>
            <a:ext cx="54864" cy="7498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5" name="Text 33"/>
          <p:cNvSpPr/>
          <p:nvPr/>
        </p:nvSpPr>
        <p:spPr>
          <a:xfrm>
            <a:off x="5614416" y="15727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14416" y="182880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노드가 읽고 쓰는 단일 공유 컨텍스트.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부분 업데이트(dict)만 반환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0" y="2414016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0" y="2414016"/>
            <a:ext cx="54864" cy="7498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9" name="Text 37"/>
          <p:cNvSpPr/>
          <p:nvPr/>
        </p:nvSpPr>
        <p:spPr>
          <a:xfrm>
            <a:off x="5614416" y="24505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614416" y="270662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함수 형태. async def 하나 = 노드 하나.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State 전체, 출력: 업데이트할 키만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0" y="3291840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0" y="3291840"/>
            <a:ext cx="54864" cy="749808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43" name="Text 41"/>
          <p:cNvSpPr/>
          <p:nvPr/>
        </p:nvSpPr>
        <p:spPr>
          <a:xfrm>
            <a:off x="5614416" y="3328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6A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Cond.Edge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14416" y="358444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route_after_validation()이 문자열 반환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LangGraph가 다음 노드 결정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0" y="4169664"/>
            <a:ext cx="3291840" cy="749808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4169664"/>
            <a:ext cx="54864" cy="749808"/>
          </a:xfrm>
          <a:prstGeom prst="rect">
            <a:avLst/>
          </a:prstGeom>
          <a:solidFill>
            <a:srgbClr val="6E40C9"/>
          </a:solidFill>
          <a:ln/>
        </p:spPr>
      </p:sp>
      <p:sp>
        <p:nvSpPr>
          <p:cNvPr id="47" name="Text 45"/>
          <p:cNvSpPr/>
          <p:nvPr/>
        </p:nvSpPr>
        <p:spPr>
          <a:xfrm>
            <a:off x="5614416" y="4206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Cycle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14416" y="446227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DAG가 아닌 순환 그래프.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replan_count로 무한루프 방지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체크포인터 &amp; 멀티턴 대화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 = 각 노드 실행 후 State 자동 스냅샷 → thread_id 기반 대화 세션 영속화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69494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5544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1차: "이번달 여신 건수 알려줘"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8288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SQL 생성 · 실행 · 결과 반환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13432"/>
            <a:ext cx="54864" cy="69494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3591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2차: "전월 대비 증감률도 보여줘"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" y="2633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이전 State 복원 → 컨텍스트 이어 처리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832104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18104"/>
            <a:ext cx="54864" cy="69494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31638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명확화: "어떤 지점 기준인가요?"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34381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interrupt() → 사용자 응답 → Command(resume=답변)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041648"/>
            <a:ext cx="4160520" cy="9692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041648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13308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4133088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413308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agents/graph/checkpointer.py  (운영)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AsyncConnectionPool(PG_URL) as pool: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45628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saver = AsyncPostgresSaver(pool)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saver.setup()  # 테이블 자동 생성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4910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saver          # 컨텍스트 매니저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4041648"/>
            <a:ext cx="3977640" cy="969264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4041648"/>
            <a:ext cx="39776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4133088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1" name="Shape 29"/>
          <p:cNvSpPr/>
          <p:nvPr/>
        </p:nvSpPr>
        <p:spPr>
          <a:xfrm>
            <a:off x="4974336" y="4133088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2" name="Shape 30"/>
          <p:cNvSpPr/>
          <p:nvPr/>
        </p:nvSpPr>
        <p:spPr>
          <a:xfrm>
            <a:off x="5102352" y="4133088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4041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graph/runner.py  (HIL 패턴)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389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interrupt() 감지 → 사용자 입력 대기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92040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result.interrupt_value: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4736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user_ans = await wait_user_input()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910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graph.ainvoke(Command(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50840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resume=user_ans), config)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핵심 3요소 — 코드로 보는 State · 자기평가 · Memory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State — 공유 컨텍스트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PipelineState(TypedDict):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Annotated: reducer 함수 지정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521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list, add_messages]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generated_sql: str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521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replan_count: int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= 부분 업데이트만 반환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sql_gen(state):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await llm.invoke(...)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521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{"generated_sql": sql}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5" name="Shape 23"/>
          <p:cNvSpPr/>
          <p:nvPr/>
        </p:nvSpPr>
        <p:spPr>
          <a:xfrm>
            <a:off x="355701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6" name="Shape 24"/>
          <p:cNvSpPr/>
          <p:nvPr/>
        </p:nvSpPr>
        <p:spPr>
          <a:xfrm>
            <a:off x="368503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Conditional Edge — 자기평가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6557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route_after_validation(state):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6557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state["val_result"]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6557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r.passed: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6557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"execute_sql"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6557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cnt = state["replan_count"]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6557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cnt &lt; MAX_REPLAN: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6557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"recovery_agent"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6557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"result_finalizer"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46557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6557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6557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"sql_validator", route_...)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1078992"/>
            <a:ext cx="2715768" cy="312724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Shape 39"/>
          <p:cNvSpPr/>
          <p:nvPr/>
        </p:nvSpPr>
        <p:spPr>
          <a:xfrm>
            <a:off x="630936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737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39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Checkpointer — Memory &amp; 멀티턴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45936" y="14264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노드 실행 후 State 자동 저장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45936" y="16322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create_checkpointer()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45936" y="18379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checkpointer: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5936" y="20436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 = builder.compile(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45936" y="22494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checkpointer=checkpointer)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345936" y="24551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45936" y="266090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thread_id = 대화 세션 키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345936" y="286664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{"configurable": {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345936" y="307238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"thread_id": session_id}}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345936" y="327812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graph.ainvoke(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45936" y="3483864"/>
            <a:ext cx="2532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input, config=config)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5720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42976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8" name="Text 56"/>
          <p:cNvSpPr/>
          <p:nvPr/>
        </p:nvSpPr>
        <p:spPr>
          <a:xfrm>
            <a:off x="60350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= 단일 진실의 원천 (Single Source of Truth)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33756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337560" y="4297680"/>
            <a:ext cx="54864" cy="640080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61" name="Text 59"/>
          <p:cNvSpPr/>
          <p:nvPr/>
        </p:nvSpPr>
        <p:spPr>
          <a:xfrm>
            <a:off x="348386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Conditional Edge = AI 자기평가 구현체 (pass/fail/terminate)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217920" y="4297680"/>
            <a:ext cx="2715768" cy="64008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17920" y="4297680"/>
            <a:ext cx="54864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4" name="Text 62"/>
          <p:cNvSpPr/>
          <p:nvPr/>
        </p:nvSpPr>
        <p:spPr>
          <a:xfrm>
            <a:off x="6364224" y="4297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Checkpointer = 무중단 멀티턴 · Human-in-the-Loop 가능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 — 의도 분류 &amp; 쿼리 정규화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3192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329184"/>
          </a:xfrm>
          <a:prstGeom prst="rect">
            <a:avLst/>
          </a:prstGeom>
          <a:solidFill>
            <a:srgbClr val="1F6FE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2743200" cy="29260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727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8836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NFKC 정규화 · 500자 제한 · 인젝션 13종 감지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1865376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40864"/>
            <a:ext cx="2743200" cy="292608"/>
          </a:xfrm>
          <a:prstGeom prst="rect">
            <a:avLst/>
          </a:prstGeom>
          <a:solidFill>
            <a:srgbClr val="1F6FEB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408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해소 + 의도 분류 → 단일 LLM 호출 통합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DATA_EXTRACTION / DATA_ANALYSIS / CASUAL / META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65960" y="2633472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2743200" cy="292608"/>
          </a:xfrm>
          <a:prstGeom prst="rect">
            <a:avLst/>
          </a:prstGeom>
          <a:solidFill>
            <a:srgbClr val="2F81F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4198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 생성 (2-Phase LLM)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3401568"/>
            <a:ext cx="0" cy="256032"/>
          </a:xfrm>
          <a:prstGeom prst="line">
            <a:avLst/>
          </a:prstGeom>
          <a:noFill/>
          <a:ln w="19050">
            <a:solidFill>
              <a:srgbClr val="388B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877056"/>
            <a:ext cx="2743200" cy="292608"/>
          </a:xfrm>
          <a:prstGeom prst="rect">
            <a:avLst/>
          </a:prstGeom>
          <a:solidFill>
            <a:srgbClr val="388BFD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8770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T1~T5 트리거 → AmbiguitySignal 패턴 처리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078992"/>
            <a:ext cx="4160520" cy="206654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1078992"/>
            <a:ext cx="4160520" cy="329184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078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NormalizedQuery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1545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87568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 / RANK / COMPARE /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810512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181051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687568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{"term":"대출","type":"DIRECT"}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075688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20756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87568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{"term":"건수","agg_function":"COUNT"}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2340864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23408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687568" y="2313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{"column":"상태","op":"EQUALS"}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606040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260604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687568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{"term":"지점","role":"GROUP"}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871216"/>
            <a:ext cx="960120" cy="201168"/>
          </a:xfrm>
          <a:prstGeom prst="rect">
            <a:avLst/>
          </a:prstGeom>
          <a:solidFill>
            <a:srgbClr val="238636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2871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87568" y="28437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{"type":"RELATIVE","base":"이번달"}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3255264"/>
            <a:ext cx="4160520" cy="1773936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72000" y="3255264"/>
            <a:ext cx="4160520" cy="310896"/>
          </a:xfrm>
          <a:prstGeom prst="rect">
            <a:avLst/>
          </a:prstGeom>
          <a:solidFill>
            <a:srgbClr val="9E6A03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4709160" y="32552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트리거 T1 ~ T5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663440" y="3675888"/>
            <a:ext cx="274320" cy="2011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675888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992624" y="36393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→ UNSURE: 맥락 불분명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63440" y="3931920"/>
            <a:ext cx="274320" cy="2011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1" name="Text 49"/>
          <p:cNvSpPr/>
          <p:nvPr/>
        </p:nvSpPr>
        <p:spPr>
          <a:xfrm>
            <a:off x="4663440" y="39319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92624" y="38953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 → AMBIGUOUS: 의도 불분명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63440" y="4187952"/>
            <a:ext cx="274320" cy="2011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4187952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992624" y="415137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 → 슬롯 ambiguities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663440" y="4443984"/>
            <a:ext cx="274320" cy="2011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92624" y="4407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→ CONFLICTED 충돌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663440" y="4700016"/>
            <a:ext cx="274320" cy="201168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4700016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92624" y="4663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→ 교차DB · 가설 충돌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— Data Copilot 개요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2519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251960" cy="329184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179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64208" y="15179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자연어 → SQL 데이터 추출 / 분석 챗봇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883664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202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64208" y="19202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3.12  +  LangGraph  +  Anthropic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286000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225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64208" y="23225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WebSocket  +  React/Vite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2688336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249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64208" y="27249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PostgreSQL (정보계, 읽기 전용)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090672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 검색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64208" y="31272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(테이블/컬럼/코드 메타)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493008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95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검색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64208" y="3529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(과거 SQL · 업무 매뉴얼)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895344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3192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64208" y="3931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4360" y="4297680"/>
            <a:ext cx="39776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334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64208" y="4334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v3.2 (2026-04-02)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1078992"/>
            <a:ext cx="379476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1078992"/>
            <a:ext cx="3794760" cy="329184"/>
          </a:xfrm>
          <a:prstGeom prst="rect">
            <a:avLst/>
          </a:prstGeom>
          <a:solidFill>
            <a:srgbClr val="3FB95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074920" y="1078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시나리오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0" y="1572768"/>
            <a:ext cx="713232" cy="237744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572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97296" y="15179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"이번 달 신규 여신 건수 알려줘"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0" y="2048256"/>
            <a:ext cx="713232" cy="237744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0482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97296" y="199339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8-Slot 정규화 → 메타 검색 → SQL 생성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0" y="2523744"/>
            <a:ext cx="713232" cy="237744"/>
          </a:xfrm>
          <a:prstGeom prst="rect">
            <a:avLst/>
          </a:prstGeom>
          <a:solidFill>
            <a:srgbClr val="D29922">
              <a:alpha val="1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52374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97296" y="24688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"어느 지점 기준인가요?" (T2 트리거)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029200" y="2999232"/>
            <a:ext cx="713232" cy="237744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29992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97296" y="29443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"전국 합계"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029200" y="3474720"/>
            <a:ext cx="713232" cy="237744"/>
          </a:xfrm>
          <a:prstGeom prst="rect">
            <a:avLst/>
          </a:prstGeom>
          <a:solidFill>
            <a:srgbClr val="8B949E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4747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97296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→ SQL 실행 → 결과 포맷팅 반환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029200" y="3950208"/>
            <a:ext cx="713232" cy="237744"/>
          </a:xfrm>
          <a:prstGeom prst="rect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395020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797296" y="389534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"전월 대비 증감률도 보여줘"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0" y="4425696"/>
            <a:ext cx="713232" cy="237744"/>
          </a:xfrm>
          <a:prstGeom prst="rect">
            <a:avLst/>
          </a:prstGeom>
          <a:solidFill>
            <a:srgbClr val="3FB950">
              <a:alpha val="1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0" y="442569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97296" y="43708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State 복원 → 컨텍스트 이어 처리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NL-to-SQL의 현실 — 은행 도메인 4가지 핵심 난제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"잔액 알려줘" — 사람에게 쉬운 말이 LLM에게는 수백 가지 해석 가능성을 가진 모호한 지시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36192"/>
            <a:ext cx="54864" cy="18288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16276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유사 테이블 다수 공존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" y="193852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99339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LOAN_DAILY_INFO / LOAN_MONTHLY_STAT / LOAN_BASE_INFO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용도·갱신주기·데이터범위를 알아야 선택 가능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5216" y="270662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27066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메타 없이 LLM이 틀린 테이블 선택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53619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7720" y="1536192"/>
            <a:ext cx="54864" cy="18288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6" name="Text 14"/>
          <p:cNvSpPr/>
          <p:nvPr/>
        </p:nvSpPr>
        <p:spPr>
          <a:xfrm>
            <a:off x="4745736" y="162763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불완전한 메타데이터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45736" y="193852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45736" y="199339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 설명: "거래금액" (단위? 원? 천원? NULL 허용?)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컬럼 의미 오추론 → 잘못된 집계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45736" y="270662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0" name="Text 18"/>
          <p:cNvSpPr/>
          <p:nvPr/>
        </p:nvSpPr>
        <p:spPr>
          <a:xfrm>
            <a:off x="4818888" y="27066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context_retriever 노드가 메타 보정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547872"/>
            <a:ext cx="54864" cy="1828800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36393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6A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금융 계수산출식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" y="395020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400507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BIS비율 = (Tier1+Tier2) / 위험가중자산 × 100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단순 컬럼 합산이 아닌 가중 계산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" y="471830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7183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업무 매뉴얼 RAG → 산출식 주입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54787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3547872"/>
            <a:ext cx="54864" cy="18288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4745736" y="3639312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코드 값 매핑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45736" y="3950208"/>
            <a:ext cx="3758184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5736" y="4005072"/>
            <a:ext cx="37764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상품구분코드 001=정기예금, 거래유형 10=입금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WHERE 절에 코드 직접 사용 필요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745736" y="4718304"/>
            <a:ext cx="377647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471830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MongoDB 코드 메타 → 프롬프트 주입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+ 메타 검색 — SQL 추론을 위한 4계층 정보 전략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3192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3931920" cy="329184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우선순위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17904"/>
            <a:ext cx="3749040" cy="658368"/>
          </a:xfrm>
          <a:prstGeom prst="rect">
            <a:avLst/>
          </a:prstGeom>
          <a:solidFill>
            <a:srgbClr val="58A6FF">
              <a:alpha val="20000"/>
            </a:srgbClr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17904"/>
            <a:ext cx="475488" cy="658368"/>
          </a:xfrm>
          <a:prstGeom prst="rect">
            <a:avLst/>
          </a:prstGeom>
          <a:solidFill>
            <a:srgbClr val="58A6FF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17904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" y="1572768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테이블/컬럼 메타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18653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설명·컬럼 타입·코드 값·주제영역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291840" cy="658368"/>
          </a:xfrm>
          <a:prstGeom prst="rect">
            <a:avLst/>
          </a:prstGeom>
          <a:solidFill>
            <a:srgbClr val="3FB950">
              <a:alpha val="20000"/>
            </a:srgbClr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86000"/>
            <a:ext cx="475488" cy="658368"/>
          </a:xfrm>
          <a:prstGeom prst="rect">
            <a:avLst/>
          </a:prstGeom>
          <a:solidFill>
            <a:srgbClr val="3FB950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86000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34086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과거 SQL 이력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633472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쿼리 벡터 검색 → few-shot 참조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054096"/>
            <a:ext cx="2834640" cy="658368"/>
          </a:xfrm>
          <a:prstGeom prst="rect">
            <a:avLst/>
          </a:prstGeom>
          <a:solidFill>
            <a:srgbClr val="9E6A03">
              <a:alpha val="20000"/>
            </a:srgbClr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054096"/>
            <a:ext cx="475488" cy="658368"/>
          </a:xfrm>
          <a:prstGeom prst="rect">
            <a:avLst/>
          </a:prstGeom>
          <a:solidFill>
            <a:srgbClr val="9E6A03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54096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78992" y="310896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— 업무 매뉴얼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3401568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계수산출식·업무 규정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822192"/>
            <a:ext cx="2377440" cy="658368"/>
          </a:xfrm>
          <a:prstGeom prst="rect">
            <a:avLst/>
          </a:prstGeom>
          <a:solidFill>
            <a:srgbClr val="8B949E">
              <a:alpha val="20000"/>
            </a:srgbClr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22192"/>
            <a:ext cx="475488" cy="658368"/>
          </a:xfrm>
          <a:prstGeom prst="rect">
            <a:avLst/>
          </a:prstGeom>
          <a:solidFill>
            <a:srgbClr val="8B949E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22192"/>
            <a:ext cx="475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8992" y="387705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— 비즈 용어 사전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416966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용어 ↔ DB 컬럼 매핑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1078992"/>
            <a:ext cx="41605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1078992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914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2" name="Shape 30"/>
          <p:cNvSpPr/>
          <p:nvPr/>
        </p:nvSpPr>
        <p:spPr>
          <a:xfrm>
            <a:off x="49194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context_retriever.py  (벡터 검색 흐름)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14264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context_retriever(state):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09160" y="1600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 = state["normalized_query"]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09160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1947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1순위: MongoDB 테이블 메타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1214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 = await mongo.find_tables(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22951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q.entity.search_keywords)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09160" y="24688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26426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2순위: Qdrant 과거 SQL (RAG)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0916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vector = await embed(q.raw_text)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09160" y="2990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similar_sqls = await qdrant.search(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09160" y="3163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vector, limit=3)  # top-3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337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→ similarity: 0.91, 0.88, 0.82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09160" y="3511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3685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3순위: 업무 매뉴얼 (계수산출식)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9160" y="3858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manual = await qdrant.search(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4032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vector, collection="manual")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0916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09160" y="437997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{"knowledge_items": {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0916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"meta": meta, "sqls": similar_sqls,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47274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"manual": manual}}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전체 흐름도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38912" y="713232"/>
            <a:ext cx="2286000" cy="256032"/>
          </a:xfrm>
          <a:prstGeom prst="rect">
            <a:avLst/>
          </a:prstGeom>
          <a:solidFill>
            <a:srgbClr val="58A6FF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38912" y="713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880360" y="713232"/>
            <a:ext cx="3840480" cy="256032"/>
          </a:xfrm>
          <a:prstGeom prst="rect">
            <a:avLst/>
          </a:prstGeom>
          <a:solidFill>
            <a:srgbClr val="3FB950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880360" y="7132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949440" y="713232"/>
            <a:ext cx="1828800" cy="256032"/>
          </a:xfrm>
          <a:prstGeom prst="rect">
            <a:avLst/>
          </a:prstGeom>
          <a:solidFill>
            <a:srgbClr val="6E40C9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4944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822960"/>
            <a:ext cx="1417320" cy="301752"/>
          </a:xfrm>
          <a:prstGeom prst="rect">
            <a:avLst/>
          </a:prstGeom>
          <a:solidFill>
            <a:srgbClr val="1F3A6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82296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147572" y="1124712"/>
            <a:ext cx="0" cy="155448"/>
          </a:xfrm>
          <a:prstGeom prst="line">
            <a:avLst/>
          </a:prstGeom>
          <a:noFill/>
          <a:ln w="1524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280160"/>
            <a:ext cx="1417320" cy="301752"/>
          </a:xfrm>
          <a:prstGeom prst="rect">
            <a:avLst/>
          </a:prstGeom>
          <a:solidFill>
            <a:srgbClr val="1F4ED8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28016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intent_classifier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147572" y="1581912"/>
            <a:ext cx="0" cy="155448"/>
          </a:xfrm>
          <a:prstGeom prst="line">
            <a:avLst/>
          </a:prstGeom>
          <a:noFill/>
          <a:ln w="15240">
            <a:solidFill>
              <a:srgbClr val="58A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737360"/>
            <a:ext cx="1417320" cy="301752"/>
          </a:xfrm>
          <a:prstGeom prst="rect">
            <a:avLst/>
          </a:prstGeom>
          <a:solidFill>
            <a:srgbClr val="2563E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737360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normalize_query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38912" y="2816352"/>
            <a:ext cx="1417320" cy="301752"/>
          </a:xfrm>
          <a:prstGeom prst="rect">
            <a:avLst/>
          </a:prstGeom>
          <a:solidFill>
            <a:srgbClr val="2D333B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816352"/>
            <a:ext cx="1417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simple_responder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8912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CASUAL/META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147572" y="2039112"/>
            <a:ext cx="0" cy="50292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56232" y="1431036"/>
            <a:ext cx="1024128" cy="0"/>
          </a:xfrm>
          <a:prstGeom prst="line">
            <a:avLst/>
          </a:prstGeom>
          <a:noFill/>
          <a:ln w="15240">
            <a:solidFill>
              <a:srgbClr val="58A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56232" y="1051560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56232" y="1888236"/>
            <a:ext cx="1024128" cy="0"/>
          </a:xfrm>
          <a:prstGeom prst="line">
            <a:avLst/>
          </a:prstGeom>
          <a:noFill/>
          <a:ln w="15240">
            <a:solidFill>
              <a:srgbClr val="58A6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80360" y="822960"/>
            <a:ext cx="1600200" cy="301752"/>
          </a:xfrm>
          <a:prstGeom prst="rect">
            <a:avLst/>
          </a:prstGeom>
          <a:solidFill>
            <a:srgbClr val="0E3D2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8229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80460" y="1124712"/>
            <a:ext cx="0" cy="155448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80360" y="1280160"/>
            <a:ext cx="1600200" cy="301752"/>
          </a:xfrm>
          <a:prstGeom prst="rect">
            <a:avLst/>
          </a:prstGeom>
          <a:solidFill>
            <a:srgbClr val="16653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0360" y="12801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80460" y="1581912"/>
            <a:ext cx="0" cy="155448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880360" y="1737360"/>
            <a:ext cx="1600200" cy="301752"/>
          </a:xfrm>
          <a:prstGeom prst="rect">
            <a:avLst/>
          </a:prstGeom>
          <a:solidFill>
            <a:srgbClr val="15803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17373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80460" y="2039112"/>
            <a:ext cx="0" cy="155448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80360" y="2194560"/>
            <a:ext cx="1600200" cy="301752"/>
          </a:xfrm>
          <a:prstGeom prst="rect">
            <a:avLst/>
          </a:prstGeom>
          <a:solidFill>
            <a:srgbClr val="065F4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80360" y="219456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80360" y="2697480"/>
            <a:ext cx="1600200" cy="301752"/>
          </a:xfrm>
          <a:prstGeom prst="rect">
            <a:avLst/>
          </a:prstGeom>
          <a:solidFill>
            <a:srgbClr val="78350F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26974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sql_generator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80460" y="2999232"/>
            <a:ext cx="0" cy="155448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80360" y="3154680"/>
            <a:ext cx="1600200" cy="301752"/>
          </a:xfrm>
          <a:prstGeom prst="rect">
            <a:avLst/>
          </a:prstGeom>
          <a:solidFill>
            <a:srgbClr val="92400E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80360" y="31546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sql_validator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80360" y="3611880"/>
            <a:ext cx="1600200" cy="301752"/>
          </a:xfrm>
          <a:prstGeom prst="rect">
            <a:avLst/>
          </a:prstGeom>
          <a:solidFill>
            <a:srgbClr val="7F1D1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80360" y="36118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recovery_agent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880360" y="4069080"/>
            <a:ext cx="1600200" cy="301752"/>
          </a:xfrm>
          <a:prstGeom prst="rect">
            <a:avLst/>
          </a:prstGeom>
          <a:solidFill>
            <a:srgbClr val="0E3D2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80360" y="4069080"/>
            <a:ext cx="1600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result_finalizer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80460" y="2496312"/>
            <a:ext cx="0" cy="201168"/>
          </a:xfrm>
          <a:prstGeom prst="line">
            <a:avLst/>
          </a:prstGeom>
          <a:noFill/>
          <a:ln w="15240">
            <a:solidFill>
              <a:srgbClr val="D2992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98848" y="22860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680460" y="3456432"/>
            <a:ext cx="0" cy="155448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32888" y="3762756"/>
            <a:ext cx="34747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32888" y="1431036"/>
            <a:ext cx="0" cy="2482596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32888" y="1431036"/>
            <a:ext cx="347472" cy="0"/>
          </a:xfrm>
          <a:prstGeom prst="line">
            <a:avLst/>
          </a:prstGeom>
          <a:noFill/>
          <a:ln w="15240">
            <a:solidFill>
              <a:srgbClr val="F8514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92808" y="256032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REPLAN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0" y="2345436"/>
            <a:ext cx="246888" cy="0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286000" y="1431036"/>
            <a:ext cx="0" cy="1065276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0" y="1431036"/>
            <a:ext cx="246888" cy="0"/>
          </a:xfrm>
          <a:prstGeom prst="line">
            <a:avLst/>
          </a:prstGeom>
          <a:noFill/>
          <a:ln w="15240">
            <a:solidFill>
              <a:srgbClr val="3FB9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691640" y="1508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480560" y="4219956"/>
            <a:ext cx="2468880" cy="0"/>
          </a:xfrm>
          <a:prstGeom prst="line">
            <a:avLst/>
          </a:prstGeom>
          <a:noFill/>
          <a:ln w="15240">
            <a:solidFill>
              <a:srgbClr val="9E6A0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49440" y="3566160"/>
            <a:ext cx="1783080" cy="301752"/>
          </a:xfrm>
          <a:prstGeom prst="rect">
            <a:avLst/>
          </a:prstGeom>
          <a:solidFill>
            <a:srgbClr val="3B0764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49440" y="35661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840980" y="3867912"/>
            <a:ext cx="0" cy="155448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9440" y="4023360"/>
            <a:ext cx="1783080" cy="301752"/>
          </a:xfrm>
          <a:prstGeom prst="rect">
            <a:avLst/>
          </a:prstGeom>
          <a:solidFill>
            <a:srgbClr val="4C1D95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40233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840980" y="4325112"/>
            <a:ext cx="0" cy="155448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49440" y="4480560"/>
            <a:ext cx="1783080" cy="301752"/>
          </a:xfrm>
          <a:prstGeom prst="rect">
            <a:avLst/>
          </a:prstGeom>
          <a:solidFill>
            <a:srgbClr val="5B21B6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44805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480560" y="3305556"/>
            <a:ext cx="2468880" cy="0"/>
          </a:xfrm>
          <a:prstGeom prst="line">
            <a:avLst/>
          </a:prstGeom>
          <a:noFill/>
          <a:ln w="15240">
            <a:solidFill>
              <a:srgbClr val="A78B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29200" y="297180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ANALYSIS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아키텍처 — 3계층 구조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633472" cy="475488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Interpret 계층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 &amp; 정규화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5216" y="1709928"/>
            <a:ext cx="237744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8521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sanitize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" y="2039112"/>
            <a:ext cx="237744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intent_classifier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5216" y="2368296"/>
            <a:ext cx="237744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normalize_query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" y="2697480"/>
            <a:ext cx="2377440" cy="256032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clarification_handler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078992"/>
            <a:ext cx="2633472" cy="475488"/>
          </a:xfrm>
          <a:prstGeom prst="rect">
            <a:avLst/>
          </a:prstGeom>
          <a:solidFill>
            <a:srgbClr val="3FB95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0156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0156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수집 &amp; SQL 추론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9856" y="1709928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41985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reasoning_preparer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856" y="2039112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1985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context_retriever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19856" y="2368296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41985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context_interpreter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19856" y="2697480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419856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readiness_gate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19856" y="3026664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419856" y="3026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sql_generator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19856" y="3355848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3419856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sql_validator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19856" y="3685032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419856" y="3685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recovery_agent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19856" y="4014216"/>
            <a:ext cx="2377440" cy="256032"/>
          </a:xfrm>
          <a:prstGeom prst="rect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419856" y="40142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result_finalizer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26480" y="1078992"/>
            <a:ext cx="2633472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1078992"/>
            <a:ext cx="2633472" cy="475488"/>
          </a:xfrm>
          <a:prstGeom prst="rect">
            <a:avLst/>
          </a:prstGeom>
          <a:solidFill>
            <a:srgbClr val="6E40C9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236208" y="10972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36208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&amp; 분석 &amp; 포맷팅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54496" y="1709928"/>
            <a:ext cx="2377440" cy="256032"/>
          </a:xfrm>
          <a:prstGeom prst="rect">
            <a:avLst/>
          </a:prstGeom>
          <a:solidFill>
            <a:srgbClr val="6E40C9">
              <a:alpha val="2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254496" y="17099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execute_sql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54496" y="2039112"/>
            <a:ext cx="2377440" cy="256032"/>
          </a:xfrm>
          <a:prstGeom prst="rect">
            <a:avLst/>
          </a:prstGeom>
          <a:solidFill>
            <a:srgbClr val="6E40C9">
              <a:alpha val="2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254496" y="20391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analyze_data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54496" y="2368296"/>
            <a:ext cx="2377440" cy="256032"/>
          </a:xfrm>
          <a:prstGeom prst="rect">
            <a:avLst/>
          </a:prstGeom>
          <a:solidFill>
            <a:srgbClr val="6E40C9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254496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format_response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6634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clarification_handler는 모든 계층에서 발생하는 모호성(T1~T5)을 단일 노드에서 처리 — AmbiguitySignal 기반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① — 탐색·확신도·readiness_gate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1965960" cy="658368"/>
          </a:xfrm>
          <a:prstGeom prst="rect">
            <a:avLst/>
          </a:prstGeom>
          <a:solidFill>
            <a:srgbClr val="0E3D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reasoning_preparer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수립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33472" y="1078992"/>
            <a:ext cx="1965960" cy="65836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7"/>
          <p:cNvSpPr/>
          <p:nvPr/>
        </p:nvSpPr>
        <p:spPr>
          <a:xfrm>
            <a:off x="2633472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context_retriever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ES/Qdrant 탐색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99432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078992"/>
            <a:ext cx="1965960" cy="658368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context_interpreter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해석·평가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1408176"/>
            <a:ext cx="210312" cy="0"/>
          </a:xfrm>
          <a:prstGeom prst="line">
            <a:avLst/>
          </a:prstGeom>
          <a:noFill/>
          <a:ln w="19050">
            <a:solidFill>
              <a:srgbClr val="3FB9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6016" y="1078992"/>
            <a:ext cx="1965960" cy="6583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5" name="Text 13"/>
          <p:cNvSpPr/>
          <p:nvPr/>
        </p:nvSpPr>
        <p:spPr>
          <a:xfrm>
            <a:off x="6986016" y="1078992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판정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1078992"/>
            <a:ext cx="0" cy="640080"/>
          </a:xfrm>
          <a:prstGeom prst="line">
            <a:avLst/>
          </a:prstGeom>
          <a:noFill/>
          <a:ln w="12700">
            <a:solidFill>
              <a:srgbClr val="3FB9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1773936"/>
            <a:ext cx="6528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EXPLORE (재탐색)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084832"/>
            <a:ext cx="4160520" cy="28346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084832"/>
            <a:ext cx="41605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17627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" y="217627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" y="217627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2450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calc_confidence(state) -&gt; float: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26334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state["knowledge_items"]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2816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29992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3차원 가중 평균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31821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term_score = items.confirmed_ratio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3649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sql_score  = items.max_sql_similarity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join_score = items.join_path_found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37307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39136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(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0965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term_score * 0.50 +  # 용어해소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279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sql_score  * 0.30 +  # 유사SQL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" y="44622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join_score * 0.20    # 조인경로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" y="4645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4360" y="482803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score  # 임계값: 0.65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084832"/>
            <a:ext cx="3977640" cy="283464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084832"/>
            <a:ext cx="39776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846320" y="217627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41" name="Shape 39"/>
          <p:cNvSpPr/>
          <p:nvPr/>
        </p:nvSpPr>
        <p:spPr>
          <a:xfrm>
            <a:off x="4974336" y="217627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42" name="Shape 40"/>
          <p:cNvSpPr/>
          <p:nvPr/>
        </p:nvSpPr>
        <p:spPr>
          <a:xfrm>
            <a:off x="5102352" y="217627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readiness_gate  라우팅 결과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505456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46320" y="2505456"/>
            <a:ext cx="54864" cy="4572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6" name="Text 44"/>
          <p:cNvSpPr/>
          <p:nvPr/>
        </p:nvSpPr>
        <p:spPr>
          <a:xfrm>
            <a:off x="4974336" y="25420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&lt; 0.65  AND  루프 수 &lt; 3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912864" y="2624328"/>
            <a:ext cx="658368" cy="219456"/>
          </a:xfrm>
          <a:prstGeom prst="rect">
            <a:avLst/>
          </a:prstGeom>
          <a:solidFill>
            <a:srgbClr val="3FB950">
              <a:alpha val="80000"/>
            </a:srgbClr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12864" y="26243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EXPLORE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3072384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072384"/>
            <a:ext cx="54864" cy="4572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51" name="Text 49"/>
          <p:cNvSpPr/>
          <p:nvPr/>
        </p:nvSpPr>
        <p:spPr>
          <a:xfrm>
            <a:off x="4974336" y="3108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수 ≥ 3  (MAX 도달)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12864" y="3191256"/>
            <a:ext cx="658368" cy="219456"/>
          </a:xfrm>
          <a:prstGeom prst="rect">
            <a:avLst/>
          </a:prstGeom>
          <a:solidFill>
            <a:srgbClr val="F85149">
              <a:alpha val="80000"/>
            </a:srgbClr>
          </a:solidFill>
          <a:ln w="6350">
            <a:solidFill>
              <a:srgbClr val="F8514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12864" y="319125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TERMINATE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639312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D2992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46320" y="3639312"/>
            <a:ext cx="54864" cy="45720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56" name="Text 54"/>
          <p:cNvSpPr/>
          <p:nvPr/>
        </p:nvSpPr>
        <p:spPr>
          <a:xfrm>
            <a:off x="4974336" y="36758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CONFLICTED 항목 존재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12864" y="3758184"/>
            <a:ext cx="658368" cy="219456"/>
          </a:xfrm>
          <a:prstGeom prst="rect">
            <a:avLst/>
          </a:prstGeom>
          <a:solidFill>
            <a:srgbClr val="D29922">
              <a:alpha val="80000"/>
            </a:srgbClr>
          </a:solidFill>
          <a:ln w="6350">
            <a:solidFill>
              <a:srgbClr val="D299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37581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ASK_USER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46320" y="4206240"/>
            <a:ext cx="3749040" cy="457200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46320" y="4206240"/>
            <a:ext cx="54864" cy="4572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1" name="Text 59"/>
          <p:cNvSpPr/>
          <p:nvPr/>
        </p:nvSpPr>
        <p:spPr>
          <a:xfrm>
            <a:off x="4974336" y="42428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 ≥ 0.65  AND  정상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912864" y="4325112"/>
            <a:ext cx="658368" cy="219456"/>
          </a:xfrm>
          <a:prstGeom prst="rect">
            <a:avLst/>
          </a:prstGeom>
          <a:solidFill>
            <a:srgbClr val="58A6FF">
              <a:alpha val="80000"/>
            </a:srgbClr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12864" y="43251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GENERATE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 계층 Zoom-in ② — SQL 검증 · 복구 · LoopGuard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5074920" cy="393192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5074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sql_validator.py  (3-Layer)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4264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sql_validator_node(state):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5864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state["generated_sql"]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17465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19065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1 — 안전성 (항상 실행)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0665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has_dml(sql):       # INSERT/DELETE 차단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22265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SAFETY_FAIL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3865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exposes_pii(sql):   # 주민번호·계좌번호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5466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PII_FAIL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27066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SQLGlot.parse(sql)     # 구문 파싱 검증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28666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0266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2a — 구조 검증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31866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check_group_by(sql)    # SELECT 컬럼 일치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3467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check_limit(sql)       # 10,000행 상한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067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6667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2b — 의미 검증 (LLM, 선택적)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" y="38267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conf_score &lt; 0.8: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9867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llm_semantic_check(sql)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14680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068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Layer 3 — 실제 실행 (LIMIT 5)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4360" y="446684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 = await db.execute(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6268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f"SELECT * FROM ({sql}) LIMIT 5")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7868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PASS if test.ok else EXEC_FAIL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0" y="1078992"/>
            <a:ext cx="3063240" cy="1847088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0" y="1078992"/>
            <a:ext cx="30632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576072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6" name="Shape 34"/>
          <p:cNvSpPr/>
          <p:nvPr/>
        </p:nvSpPr>
        <p:spPr>
          <a:xfrm>
            <a:off x="588873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7" name="Shape 35"/>
          <p:cNvSpPr/>
          <p:nvPr/>
        </p:nvSpPr>
        <p:spPr>
          <a:xfrm>
            <a:off x="601675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612648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recovery_agent.py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806440" y="14264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recovery_agent(state):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06440" y="1627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hyp = state["failed_hypotheses"]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18288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DeadEnd 기록 후 재계획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2029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new_plan = await llm.replan(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06440" y="22311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hyp, state["context"])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06440" y="24323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{"execution_plan": new_plan,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806440" y="2633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"replan_count": cnt + 1}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0" y="3017520"/>
            <a:ext cx="3063240" cy="1993392"/>
          </a:xfrm>
          <a:prstGeom prst="rect">
            <a:avLst/>
          </a:prstGeom>
          <a:solidFill>
            <a:srgbClr val="161B22"/>
          </a:solidFill>
          <a:ln w="9525">
            <a:solidFill>
              <a:srgbClr val="F851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3017520"/>
            <a:ext cx="3063240" cy="329184"/>
          </a:xfrm>
          <a:prstGeom prst="rect">
            <a:avLst/>
          </a:prstGeom>
          <a:solidFill>
            <a:srgbClr val="F85149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797296" y="30175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LoopGuard — 무한루프 방지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779008" y="3474720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0" name="Text 48"/>
          <p:cNvSpPr/>
          <p:nvPr/>
        </p:nvSpPr>
        <p:spPr>
          <a:xfrm>
            <a:off x="5779008" y="347472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total_tool_calls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70064" y="343814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20 → TERMINATE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79008" y="3950208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3" name="Text 51"/>
          <p:cNvSpPr/>
          <p:nvPr/>
        </p:nvSpPr>
        <p:spPr>
          <a:xfrm>
            <a:off x="5779008" y="395020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replan_count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370064" y="39136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3 → TERMINATE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79008" y="4425696"/>
            <a:ext cx="1536192" cy="256032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6" name="Text 54"/>
          <p:cNvSpPr/>
          <p:nvPr/>
        </p:nvSpPr>
        <p:spPr>
          <a:xfrm>
            <a:off x="5779008" y="442569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generate_attempts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370064" y="43891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51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4 → TERMINATE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Present 계층 — 실행 · 분석 · 포맷팅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8" name="Shape 6"/>
          <p:cNvSpPr/>
          <p:nvPr/>
        </p:nvSpPr>
        <p:spPr>
          <a:xfrm>
            <a:off x="67665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execute_sql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execute_sql_node(state):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sql = state["final_sql"]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521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validate_sql_safety() 재확인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 = await db.fetch(sql,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521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limit=MAX_ROWS)  # 기본 10,000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{"sql_result": rows,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"row_count": len(rows)}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701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2" name="Shape 20"/>
          <p:cNvSpPr/>
          <p:nvPr/>
        </p:nvSpPr>
        <p:spPr>
          <a:xfrm>
            <a:off x="368503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analyze_data  (DATA_ANALYSIS)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6557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3회 호출로 분석 수행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6557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  = await llm(stats_prompt)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6557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    = await llm(viz_prompt)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6557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viz.chart: bar/line/pie/table/none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6557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viz.chart != "none":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6557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svg = await llm(svg_prompt)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6557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Tier2 fallback: rule-based chart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1078992"/>
            <a:ext cx="2715768" cy="3200400"/>
          </a:xfrm>
          <a:prstGeom prst="rect">
            <a:avLst/>
          </a:prstGeom>
          <a:solidFill>
            <a:srgbClr val="010409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1078992"/>
            <a:ext cx="2715768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31"/>
          <p:cNvSpPr/>
          <p:nvPr/>
        </p:nvSpPr>
        <p:spPr>
          <a:xfrm>
            <a:off x="6309360" y="1170432"/>
            <a:ext cx="91440" cy="9144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34" name="Shape 32"/>
          <p:cNvSpPr/>
          <p:nvPr/>
        </p:nvSpPr>
        <p:spPr>
          <a:xfrm>
            <a:off x="6437376" y="1170432"/>
            <a:ext cx="91440" cy="9144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565392" y="1170432"/>
            <a:ext cx="91440" cy="914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1078992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format_response  (rule-based)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45936" y="144475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호출 없음 — 결정론적 포맷팅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5936" y="17922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build_summary_line(rows)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45936" y="21396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formats = detect_column_formats(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2487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rows)  # 만원/억원/% 자동 감지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2834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mapped  = apply_code_mappings(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5936" y="318211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rows, code_meta)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45936" y="352958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"2026년 3월", "1,234건" 형식 출력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8321040" cy="603504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44256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40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시각화 3-Tier Fallback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94360" y="4700016"/>
            <a:ext cx="164592" cy="164592"/>
          </a:xfrm>
          <a:prstGeom prst="rect">
            <a:avLst/>
          </a:prstGeom>
          <a:solidFill>
            <a:srgbClr val="79C0FF"/>
          </a:solidFill>
          <a:ln/>
        </p:spPr>
      </p:sp>
      <p:sp>
        <p:nvSpPr>
          <p:cNvPr id="47" name="Text 45"/>
          <p:cNvSpPr/>
          <p:nvPr/>
        </p:nvSpPr>
        <p:spPr>
          <a:xfrm>
            <a:off x="81381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1: LLM이 SVG 직접 생성 (chart_type 기반)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383280" y="4700016"/>
            <a:ext cx="164592" cy="16459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9" name="Text 47"/>
          <p:cNvSpPr/>
          <p:nvPr/>
        </p:nvSpPr>
        <p:spPr>
          <a:xfrm>
            <a:off x="360273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2: rule-based chart_generator (D3 스타일 SVG)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72200" y="4700016"/>
            <a:ext cx="164592" cy="16459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1" name="Text 49"/>
          <p:cNvSpPr/>
          <p:nvPr/>
        </p:nvSpPr>
        <p:spPr>
          <a:xfrm>
            <a:off x="6391656" y="4663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Tier 3: NONE (시각화 불가 → 텍스트만 반환)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활용 노하우 — AI 협업 개발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411480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78992"/>
            <a:ext cx="4114800" cy="329184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Sub-Agents — 역할별 전문 에이전트 15종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572768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7276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pipeline-designer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572768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57276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61488" y="151790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LangGraph 아키텍처 설계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139696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3969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research-analyst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76272" y="2139696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76272" y="213969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61488" y="208483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조사 &amp; 문서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2706624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70662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prompt-engineer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76272" y="2706624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76272" y="270662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61488" y="26517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프롬프트 최적화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273552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273552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code-reviewer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76272" y="3273552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327355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Opus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61488" y="32186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품질 &amp; 보안 리뷰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6928" y="3840480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8404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test-generator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76272" y="3840480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76272" y="384048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761488" y="378561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골든셋 생성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4407408"/>
            <a:ext cx="1536192" cy="219456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407408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domain-expert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76272" y="4407408"/>
            <a:ext cx="530352" cy="21945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76272" y="440740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Sonnet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61488" y="43525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도메인 검증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1078992"/>
            <a:ext cx="3977640" cy="199339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1078992"/>
            <a:ext cx="3977640" cy="329184"/>
          </a:xfrm>
          <a:prstGeom prst="rect">
            <a:avLst/>
          </a:prstGeom>
          <a:solidFill>
            <a:srgbClr val="3FB950">
              <a:alpha val="8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10789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.claude/ 구조 &amp; 문서 체계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18888" y="1554480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155448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9632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전체 컨텍스트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18888" y="1847088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5" name="Text 43"/>
          <p:cNvSpPr/>
          <p:nvPr/>
        </p:nvSpPr>
        <p:spPr>
          <a:xfrm>
            <a:off x="4818888" y="18470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rules/*.md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9632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코드스타일 · 보안 · 도메인 규칙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18888" y="2139696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48" name="Text 46"/>
          <p:cNvSpPr/>
          <p:nvPr/>
        </p:nvSpPr>
        <p:spPr>
          <a:xfrm>
            <a:off x="4818888" y="21396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agents/*.md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99632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에이전트별 역할 · 모델 정의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818888" y="2432304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1" name="Text 49"/>
          <p:cNvSpPr/>
          <p:nvPr/>
        </p:nvSpPr>
        <p:spPr>
          <a:xfrm>
            <a:off x="4818888" y="24323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agent-memory/*.md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99632" y="2395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MEMORY.md — 세션 간 지식 영속화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818888" y="2724912"/>
            <a:ext cx="1325880" cy="201168"/>
          </a:xfrm>
          <a:prstGeom prst="rect">
            <a:avLst/>
          </a:prstGeom>
          <a:solidFill>
            <a:srgbClr val="010409"/>
          </a:solidFill>
          <a:ln/>
        </p:spPr>
      </p:sp>
      <p:sp>
        <p:nvSpPr>
          <p:cNvPr id="54" name="Text 52"/>
          <p:cNvSpPr/>
          <p:nvPr/>
        </p:nvSpPr>
        <p:spPr>
          <a:xfrm>
            <a:off x="4818888" y="27249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skills/*.skill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199632" y="26883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자동화 스킬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709160" y="3182112"/>
            <a:ext cx="397764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709160" y="3182112"/>
            <a:ext cx="3977640" cy="329184"/>
          </a:xfrm>
          <a:prstGeom prst="rect">
            <a:avLst/>
          </a:prstGeom>
          <a:solidFill>
            <a:srgbClr val="D29922">
              <a:alpha val="8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318211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 엔지니어링 목표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4632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정확도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66560" y="36393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≥ 90%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846320" y="4059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응답시간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66560" y="40599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5초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4846320" y="44805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재질문 비율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766560" y="4480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15%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폐쇄망 배포 전략 — 설정 교체만으로 LLM 전환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832104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8321040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7899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폐쇄망: 외부 API 불가 — 온프레미스 LLM + 내부 벡터 스토어로 전체 스택 자급 운영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3931920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36192"/>
            <a:ext cx="3931920" cy="329184"/>
          </a:xfrm>
          <a:prstGeom prst="rect">
            <a:avLst/>
          </a:prstGeom>
          <a:solidFill>
            <a:srgbClr val="58A6FF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36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전환 로드맵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1975104"/>
            <a:ext cx="54864" cy="84124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4992" y="2121408"/>
            <a:ext cx="822960" cy="237744"/>
          </a:xfrm>
          <a:prstGeom prst="rect">
            <a:avLst/>
          </a:prstGeom>
          <a:solidFill>
            <a:srgbClr val="58A6F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212140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완료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" y="20482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단계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4944" y="23042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Sonnet / Opus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" y="25786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API — 최고 성능 기준선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816352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962656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2962656"/>
            <a:ext cx="54864" cy="8412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4992" y="3108960"/>
            <a:ext cx="822960" cy="237744"/>
          </a:xfrm>
          <a:prstGeom prst="rect">
            <a:avLst/>
          </a:prstGeom>
          <a:solidFill>
            <a:srgbClr val="3FB950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364992" y="310896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운영 중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4944" y="3035808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폐쇄망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" y="329184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Solar Pro 2 (70B)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4944" y="3566160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OpenAI-compatible API 래퍼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23160" y="3803904"/>
            <a:ext cx="0" cy="146304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3950208"/>
            <a:ext cx="3712464" cy="841248"/>
          </a:xfrm>
          <a:prstGeom prst="rect">
            <a:avLst/>
          </a:prstGeom>
          <a:solidFill>
            <a:srgbClr val="161B22"/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950208"/>
            <a:ext cx="54864" cy="84124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8" name="Shape 26"/>
          <p:cNvSpPr/>
          <p:nvPr/>
        </p:nvSpPr>
        <p:spPr>
          <a:xfrm>
            <a:off x="3364992" y="4096512"/>
            <a:ext cx="822960" cy="237744"/>
          </a:xfrm>
          <a:prstGeom prst="rect">
            <a:avLst/>
          </a:prstGeom>
          <a:solidFill>
            <a:srgbClr val="8B949E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364992" y="40965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○ 계획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4944" y="402336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업그레이드 예정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" y="42793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Qwen3 397B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" y="45537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모드 · 다국어 강점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1536192"/>
            <a:ext cx="4160520" cy="3474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0" y="1536192"/>
            <a:ext cx="4160520" cy="329184"/>
          </a:xfrm>
          <a:prstGeom prst="rect">
            <a:avLst/>
          </a:prstGeom>
          <a:solidFill>
            <a:srgbClr val="D29922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15361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시 핵심 고려사항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81728" y="1975104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81728" y="1975104"/>
            <a:ext cx="54864" cy="6583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09744" y="2029968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구조화 더 중요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9744" y="228600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모델일수록 XML 태그·단계 분리·예시 포함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모호한 지시 = 성능 급락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81728" y="2724912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81728" y="2724912"/>
            <a:ext cx="54864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2" name="Text 40"/>
          <p:cNvSpPr/>
          <p:nvPr/>
        </p:nvSpPr>
        <p:spPr>
          <a:xfrm>
            <a:off x="4809744" y="2779776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출력 안정성 확보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809744" y="3035808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 thinking 모드 시 &lt;think&gt; 태그 제거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Pydantic 스키마로 강제 검증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81728" y="3474720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9E6A0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81728" y="3474720"/>
            <a:ext cx="54864" cy="658368"/>
          </a:xfrm>
          <a:prstGeom prst="rect">
            <a:avLst/>
          </a:prstGeom>
          <a:solidFill>
            <a:srgbClr val="9E6A03"/>
          </a:solidFill>
          <a:ln/>
        </p:spPr>
      </p:sp>
      <p:sp>
        <p:nvSpPr>
          <p:cNvPr id="46" name="Text 44"/>
          <p:cNvSpPr/>
          <p:nvPr/>
        </p:nvSpPr>
        <p:spPr>
          <a:xfrm>
            <a:off x="4809744" y="3529584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E6A0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없음 → 로컬 스토어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9744" y="378561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Qdrant · MongoDB · Redis 온프레미스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임베딩 모델도 내부 서버 필요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81728" y="4224528"/>
            <a:ext cx="393192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81728" y="4224528"/>
            <a:ext cx="54864" cy="6583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0" name="Text 48"/>
          <p:cNvSpPr/>
          <p:nvPr/>
        </p:nvSpPr>
        <p:spPr>
          <a:xfrm>
            <a:off x="4809744" y="4279392"/>
            <a:ext cx="3694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파일만 교체로 전환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09744" y="4535424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LLM_PROVIDER / MODEL_NAME 환경변수만 교체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코드 무변경 설계 완료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43500"/>
            <a:ext cx="9144000" cy="0"/>
          </a:xfrm>
          <a:prstGeom prst="line">
            <a:avLst/>
          </a:prstGeom>
          <a:noFill/>
          <a:ln w="38100">
            <a:solidFill>
              <a:srgbClr val="3FB9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548640"/>
            <a:ext cx="237744" cy="237744"/>
          </a:xfrm>
          <a:prstGeom prst="ellipse">
            <a:avLst/>
          </a:prstGeom>
          <a:solidFill>
            <a:srgbClr val="1F6FEB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077456" y="804672"/>
            <a:ext cx="237744" cy="237744"/>
          </a:xfrm>
          <a:prstGeom prst="ellipse">
            <a:avLst/>
          </a:prstGeom>
          <a:solidFill>
            <a:srgbClr val="3FB95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8352" y="1060704"/>
            <a:ext cx="237744" cy="237744"/>
          </a:xfrm>
          <a:prstGeom prst="ellipse">
            <a:avLst/>
          </a:prstGeom>
          <a:solidFill>
            <a:srgbClr val="9E6A03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99248" y="1316736"/>
            <a:ext cx="237744" cy="237744"/>
          </a:xfrm>
          <a:prstGeom prst="ellipse">
            <a:avLst/>
          </a:prstGeom>
          <a:solidFill>
            <a:srgbClr val="F85149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766560" y="1828800"/>
            <a:ext cx="1463040" cy="1463040"/>
          </a:xfrm>
          <a:prstGeom prst="ellipse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223760" y="3474720"/>
            <a:ext cx="1097280" cy="1097280"/>
          </a:xfrm>
          <a:prstGeom prst="ellipse">
            <a:avLst/>
          </a:prstGeom>
          <a:solidFill>
            <a:srgbClr val="3FB950">
              <a:alpha val="2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801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640080" y="257860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8A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560320" y="3291840"/>
            <a:ext cx="1828800" cy="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38144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Agentic AI &amp; LangGraph 기반 Data Copilot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039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036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VSCode + Claude Code 활용 프로젝트  ·  2026.04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LangGraph 기반 데이터 분석 챗봇 v4</dc:title>
  <dc:subject>PptxGenJS Presentation</dc:subject>
  <dc:creator>PptxGenJS</dc:creator>
  <cp:lastModifiedBy>PptxGenJS</cp:lastModifiedBy>
  <cp:revision>1</cp:revision>
  <dcterms:created xsi:type="dcterms:W3CDTF">2026-04-08T09:10:15Z</dcterms:created>
  <dcterms:modified xsi:type="dcterms:W3CDTF">2026-04-08T09:10:15Z</dcterms:modified>
</cp:coreProperties>
</file>